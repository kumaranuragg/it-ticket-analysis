
<file path=[Content_Types].xml><?xml version="1.0" encoding="utf-8"?>
<Types xmlns="http://schemas.openxmlformats.org/package/2006/content-types">
  <Default ContentType="image/png" Extension="png"/>
  <Default ContentType="application/vnd.openxmlformats-officedocument.oleObject" Extension="bin"/>
  <Default ContentType="image/jpeg" Extension="jpeg"/>
  <Default ContentType="application/vnd.openxmlformats-package.relationships+xml" Extension="rels"/>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drawingml.chart+xml" PartName="/ppt/charts/chart1.xml"/>
  <Override ContentType="application/vnd.ms-office.chartstyle+xml" PartName="/ppt/charts/style1.xml"/>
  <Override ContentType="application/vnd.ms-office.chartcolorstyle+xml" PartName="/ppt/charts/colors1.xml"/>
  <Override ContentType="application/vnd.openxmlformats-officedocument.drawingml.chart+xml" PartName="/ppt/charts/chart2.xml"/>
  <Override ContentType="application/vnd.ms-office.chartstyle+xml" PartName="/ppt/charts/style2.xml"/>
  <Override ContentType="application/vnd.ms-office.chartcolorstyle+xml" PartName="/ppt/charts/colors2.xml"/>
  <Override ContentType="application/vnd.openxmlformats-officedocument.themeOverride+xml" PartName="/ppt/theme/themeOverride1.xml"/>
  <Override ContentType="application/vnd.openxmlformats-officedocument.drawingml.chart+xml" PartName="/ppt/charts/chart3.xml"/>
  <Override ContentType="application/vnd.ms-office.chartstyle+xml" PartName="/ppt/charts/style3.xml"/>
  <Override ContentType="application/vnd.ms-office.chartcolorstyle+xml" PartName="/ppt/charts/colors3.xml"/>
  <Override ContentType="application/vnd.openxmlformats-officedocument.drawingml.chart+xml" PartName="/ppt/charts/chart4.xml"/>
  <Override ContentType="application/vnd.ms-office.chartstyle+xml" PartName="/ppt/charts/style4.xml"/>
  <Override ContentType="application/vnd.ms-office.chartcolorstyle+xml" PartName="/ppt/charts/colors4.xml"/>
  <Override ContentType="application/vnd.openxmlformats-officedocument.drawingml.chart+xml" PartName="/ppt/charts/chart5.xml"/>
  <Override ContentType="application/vnd.ms-office.chartstyle+xml" PartName="/ppt/charts/style5.xml"/>
  <Override ContentType="application/vnd.ms-office.chartcolorstyle+xml" PartName="/ppt/charts/colors5.xml"/>
  <Override ContentType="application/vnd.openxmlformats-officedocument.drawingml.chart+xml" PartName="/ppt/charts/chart6.xml"/>
  <Override ContentType="application/vnd.ms-office.chartstyle+xml" PartName="/ppt/charts/style6.xml"/>
  <Override ContentType="application/vnd.ms-office.chartcolorstyle+xml" PartName="/ppt/charts/colors6.xml"/>
  <Override ContentType="application/vnd.openxmlformats-officedocument.drawingml.chart+xml" PartName="/ppt/charts/chart7.xml"/>
  <Override ContentType="application/vnd.ms-office.chartstyle+xml" PartName="/ppt/charts/style7.xml"/>
  <Override ContentType="application/vnd.ms-office.chartcolorstyle+xml" PartName="/ppt/charts/colors7.xml"/>
  <Override ContentType="application/vnd.openxmlformats-officedocument.drawingml.chart+xml" PartName="/ppt/charts/chart8.xml"/>
  <Override ContentType="application/vnd.ms-office.chartstyle+xml" PartName="/ppt/charts/style8.xml"/>
  <Override ContentType="application/vnd.ms-office.chartcolorstyle+xml" PartName="/ppt/charts/colors8.xml"/>
  <Override ContentType="application/vnd.openxmlformats-officedocument.drawingml.chart+xml" PartName="/ppt/charts/chart9.xml"/>
  <Override ContentType="application/vnd.ms-office.chartstyle+xml" PartName="/ppt/charts/style9.xml"/>
  <Override ContentType="application/vnd.ms-office.chartcolorstyle+xml" PartName="/ppt/charts/colors9.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3"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8" r:id="rId13"/>
    <p:sldId id="266" r:id="rId14"/>
    <p:sldId id="267"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varScale="1">
        <p:scale>
          <a:sx n="113" d="100"/>
          <a:sy n="113" d="100"/>
        </p:scale>
        <p:origin x="45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embeddings/oleObject2.bin"/></Relationships>
</file>

<file path=ppt/charts/_rels/chart3.xml.rels><?xml version="1.0" encoding="UTF-8" standalone="yes"?>
<Relationships xmlns="http://schemas.openxmlformats.org/package/2006/relationships"><Relationship Id="rId3" Type="http://schemas.openxmlformats.org/officeDocument/2006/relationships/oleObject" Target="file:///D:\Data%20Science%20&amp;%20AI\Newton%20School\Projects\Spreadsheet%20Projects\1_IT%20Ticket%20Analysis\Chandan_IT_Tickets_Analysi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ata%20Science%20&amp;%20AI\Newton%20School\Projects\Spreadsheet%20Projects\1_IT%20Ticket%20Analysis\Chandan_IT_Tickets_Analysi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embeddings/oleObject3.bin"/><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Data%20Science%20&amp;%20AI\Newton%20School\Projects\Spreadsheet%20Projects\1_IT%20Ticket%20Analysis\Chandan_IT_Tickets_Analysi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Data%20Science%20&amp;%20AI\Newton%20School\Projects\Spreadsheet%20Projects\1_IT%20Ticket%20Analysis\Chandan_IT_Tickets_Analysi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Data%20Science%20&amp;%20AI\Newton%20School\Projects\Spreadsheet%20Projects\1_IT%20Ticket%20Analysis\Chandan_IT_Tickets_Analysis.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embeddings/oleObject4.bin"/><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[Chandan_IT_Tickets_Analysis.xlsx]Pivots!Pivots_Count of ticket IDs by time</c:name>
    <c:fmtId val="-1"/>
  </c:pivotSource>
  <c:chart>
    <c:autoTitleDeleted val="1"/>
    <c:pivotFmts>
      <c:pivotFmt>
        <c:idx val="0"/>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pattFill prst="ltUpDiag">
            <a:fgClr>
              <a:schemeClr val="accent1"/>
            </a:fgClr>
            <a:bgClr>
              <a:schemeClr val="lt1"/>
            </a:bgClr>
          </a:pattFill>
          <a:ln w="34925" cap="rnd">
            <a:solidFill>
              <a:schemeClr val="lt1"/>
            </a:solidFill>
            <a:round/>
          </a:ln>
          <a:effectLst>
            <a:outerShdw dist="25400" dir="2700000" algn="tl" rotWithShape="0">
              <a:schemeClr val="accent1"/>
            </a:outerShdw>
          </a:effectLst>
        </c:spPr>
        <c:marker>
          <c:symbol val="circle"/>
          <c:size val="5"/>
          <c:spPr>
            <a:solidFill>
              <a:schemeClr val="accent1"/>
            </a:solidFill>
            <a:ln w="22225">
              <a:solidFill>
                <a:schemeClr val="lt1"/>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pattFill prst="ltUpDiag">
            <a:fgClr>
              <a:schemeClr val="accent1"/>
            </a:fgClr>
            <a:bgClr>
              <a:schemeClr val="lt1"/>
            </a:bgClr>
          </a:pattFill>
          <a:ln w="34925" cap="rnd">
            <a:solidFill>
              <a:srgbClr val="FF0000"/>
            </a:solidFill>
            <a:round/>
          </a:ln>
          <a:effectLst>
            <a:outerShdw blurRad="50800" dist="38100" dir="2700000" algn="tl" rotWithShape="0">
              <a:prstClr val="black">
                <a:alpha val="40000"/>
              </a:prstClr>
            </a:outerShdw>
          </a:effectLst>
        </c:spPr>
        <c:marker>
          <c:symbol val="circle"/>
          <c:size val="5"/>
          <c:spPr>
            <a:solidFill>
              <a:schemeClr val="accent1"/>
            </a:solidFill>
            <a:ln w="22225">
              <a:solidFill>
                <a:schemeClr val="lt1"/>
              </a:solidFill>
              <a:round/>
            </a:ln>
            <a:effectLst>
              <a:outerShdw blurRad="50800" dist="38100" dir="2700000" algn="tl" rotWithShape="0">
                <a:prstClr val="black">
                  <a:alpha val="40000"/>
                </a:prstClr>
              </a:outerShdw>
            </a:effectLst>
          </c:spPr>
        </c:marker>
        <c:dLbl>
          <c:idx val="0"/>
          <c:spPr>
            <a:noFill/>
            <a:ln>
              <a:noFill/>
            </a:ln>
            <a:effectLst/>
          </c:spPr>
          <c:txPr>
            <a:bodyPr rot="-5400000" spcFirstLastPara="1" vertOverflow="ellipsis" vert="horz"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pattFill prst="ltUpDiag">
            <a:fgClr>
              <a:schemeClr val="accent1"/>
            </a:fgClr>
            <a:bgClr>
              <a:schemeClr val="lt1"/>
            </a:bgClr>
          </a:pattFill>
          <a:ln w="34925" cap="rnd">
            <a:solidFill>
              <a:srgbClr val="FF0000"/>
            </a:solidFill>
            <a:round/>
          </a:ln>
          <a:effectLst>
            <a:outerShdw blurRad="50800" dist="38100" dir="2700000" algn="tl" rotWithShape="0">
              <a:prstClr val="black">
                <a:alpha val="40000"/>
              </a:prstClr>
            </a:outerShdw>
          </a:effectLst>
        </c:spPr>
        <c:marker>
          <c:symbol val="circle"/>
          <c:size val="5"/>
          <c:spPr>
            <a:solidFill>
              <a:schemeClr val="accent1"/>
            </a:solidFill>
            <a:ln w="22225">
              <a:solidFill>
                <a:schemeClr val="lt1"/>
              </a:solidFill>
              <a:round/>
            </a:ln>
            <a:effectLst>
              <a:outerShdw blurRad="50800" dist="38100" dir="2700000" algn="tl" rotWithShape="0">
                <a:prstClr val="black">
                  <a:alpha val="40000"/>
                </a:prstClr>
              </a:outerShdw>
            </a:effectLst>
          </c:spPr>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pattFill prst="ltUpDiag">
            <a:fgClr>
              <a:schemeClr val="accent1"/>
            </a:fgClr>
            <a:bgClr>
              <a:schemeClr val="lt1"/>
            </a:bgClr>
          </a:pattFill>
          <a:ln w="34925" cap="rnd">
            <a:solidFill>
              <a:srgbClr val="FF0000"/>
            </a:solidFill>
            <a:round/>
          </a:ln>
          <a:effectLst>
            <a:outerShdw blurRad="50800" dist="38100" dir="2700000" algn="tl" rotWithShape="0">
              <a:prstClr val="black">
                <a:alpha val="40000"/>
              </a:prstClr>
            </a:outerShdw>
          </a:effectLst>
        </c:spPr>
        <c:marker>
          <c:symbol val="circle"/>
          <c:size val="5"/>
          <c:spPr>
            <a:solidFill>
              <a:schemeClr val="accent1"/>
            </a:solidFill>
            <a:ln w="22225">
              <a:solidFill>
                <a:schemeClr val="lt1"/>
              </a:solidFill>
              <a:round/>
            </a:ln>
            <a:effectLst>
              <a:outerShdw blurRad="50800" dist="38100" dir="2700000" algn="tl" rotWithShape="0">
                <a:prstClr val="black">
                  <a:alpha val="40000"/>
                </a:prstClr>
              </a:outerShdw>
            </a:effectLst>
          </c:spPr>
        </c:marker>
        <c:dLbl>
          <c:idx val="0"/>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7764351641436213"/>
          <c:y val="0.19561262228585063"/>
          <c:w val="0.77045291317869924"/>
          <c:h val="0.61634479243696783"/>
        </c:manualLayout>
      </c:layout>
      <c:lineChart>
        <c:grouping val="standard"/>
        <c:varyColors val="0"/>
        <c:ser>
          <c:idx val="0"/>
          <c:order val="0"/>
          <c:tx>
            <c:strRef>
              <c:f>Pivots!$B$2</c:f>
              <c:strCache>
                <c:ptCount val="1"/>
                <c:pt idx="0">
                  <c:v>Total</c:v>
                </c:pt>
              </c:strCache>
            </c:strRef>
          </c:tx>
          <c:spPr>
            <a:ln w="34925" cap="rnd">
              <a:solidFill>
                <a:srgbClr val="FF0000"/>
              </a:solidFill>
              <a:round/>
            </a:ln>
            <a:effectLst>
              <a:outerShdw blurRad="50800" dist="38100" dir="2700000" algn="tl" rotWithShape="0">
                <a:prstClr val="black">
                  <a:alpha val="40000"/>
                </a:prstClr>
              </a:outerShdw>
            </a:effectLst>
          </c:spPr>
          <c:marker>
            <c:symbol val="circle"/>
            <c:size val="5"/>
            <c:spPr>
              <a:solidFill>
                <a:schemeClr val="accent1"/>
              </a:solidFill>
              <a:ln w="22225">
                <a:solidFill>
                  <a:schemeClr val="lt1"/>
                </a:solidFill>
                <a:round/>
              </a:ln>
              <a:effectLst>
                <a:outerShdw blurRad="50800" dist="38100" dir="2700000" algn="tl" rotWithShape="0">
                  <a:prstClr val="black">
                    <a:alpha val="40000"/>
                  </a:prstClr>
                </a:outerShdw>
              </a:effectLst>
            </c:spPr>
          </c:marker>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lt1"/>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accent1">
                          <a:lumMod val="60000"/>
                          <a:lumOff val="40000"/>
                        </a:schemeClr>
                      </a:solidFill>
                    </a:ln>
                    <a:effectLst/>
                  </c:spPr>
                </c15:leaderLines>
              </c:ext>
            </c:extLst>
          </c:dLbls>
          <c:cat>
            <c:strRef>
              <c:f>Pivots!$A$3:$A$7</c:f>
              <c:strCache>
                <c:ptCount val="5"/>
                <c:pt idx="0">
                  <c:v>2016</c:v>
                </c:pt>
                <c:pt idx="1">
                  <c:v>2017</c:v>
                </c:pt>
                <c:pt idx="2">
                  <c:v>2018</c:v>
                </c:pt>
                <c:pt idx="3">
                  <c:v>2019</c:v>
                </c:pt>
                <c:pt idx="4">
                  <c:v>2020</c:v>
                </c:pt>
              </c:strCache>
            </c:strRef>
          </c:cat>
          <c:val>
            <c:numRef>
              <c:f>Pivots!$B$3:$B$7</c:f>
              <c:numCache>
                <c:formatCode>General</c:formatCode>
                <c:ptCount val="5"/>
                <c:pt idx="0">
                  <c:v>13051</c:v>
                </c:pt>
                <c:pt idx="1">
                  <c:v>14915</c:v>
                </c:pt>
                <c:pt idx="2">
                  <c:v>18954</c:v>
                </c:pt>
                <c:pt idx="3">
                  <c:v>21490</c:v>
                </c:pt>
                <c:pt idx="4">
                  <c:v>29088</c:v>
                </c:pt>
              </c:numCache>
            </c:numRef>
          </c:val>
          <c:smooth val="0"/>
          <c:extLst>
            <c:ext xmlns:c16="http://schemas.microsoft.com/office/drawing/2014/chart" uri="{C3380CC4-5D6E-409C-BE32-E72D297353CC}">
              <c16:uniqueId val="{00000000-1CDD-4756-A5C6-CE1EF75F1EAB}"/>
            </c:ext>
          </c:extLst>
        </c:ser>
        <c:dLbls>
          <c:dLblPos val="t"/>
          <c:showLegendKey val="0"/>
          <c:showVal val="1"/>
          <c:showCatName val="0"/>
          <c:showSerName val="0"/>
          <c:showPercent val="0"/>
          <c:showBubbleSize val="0"/>
        </c:dLbls>
        <c:dropLines>
          <c:spPr>
            <a:ln w="9525" cap="flat" cmpd="sng" algn="ctr">
              <a:gradFill>
                <a:gsLst>
                  <a:gs pos="0">
                    <a:schemeClr val="lt1"/>
                  </a:gs>
                  <a:gs pos="100000">
                    <a:schemeClr val="lt1">
                      <a:alpha val="0"/>
                    </a:schemeClr>
                  </a:gs>
                </a:gsLst>
                <a:lin ang="5400000" scaled="0"/>
              </a:gradFill>
              <a:round/>
            </a:ln>
            <a:effectLst/>
          </c:spPr>
        </c:dropLines>
        <c:marker val="1"/>
        <c:smooth val="0"/>
        <c:axId val="47003200"/>
        <c:axId val="47003680"/>
      </c:lineChart>
      <c:catAx>
        <c:axId val="47003200"/>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lt1"/>
                    </a:solidFill>
                    <a:latin typeface="+mn-lt"/>
                    <a:ea typeface="+mn-ea"/>
                    <a:cs typeface="+mn-cs"/>
                  </a:defRPr>
                </a:pPr>
                <a:r>
                  <a:rPr lang="en-IN" dirty="0"/>
                  <a:t>TIME (YEAR)</a:t>
                </a:r>
              </a:p>
            </c:rich>
          </c:tx>
          <c:layout>
            <c:manualLayout>
              <c:xMode val="edge"/>
              <c:yMode val="edge"/>
              <c:x val="0.40859153760095096"/>
              <c:y val="0.90844982370151794"/>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solidFill>
            <a:round/>
          </a:ln>
          <a:effectLst/>
        </c:spPr>
        <c:txPr>
          <a:bodyPr rot="-60000000" spcFirstLastPara="1" vertOverflow="ellipsis" vert="horz" wrap="square" anchor="ctr" anchorCtr="1"/>
          <a:lstStyle/>
          <a:p>
            <a:pPr>
              <a:defRPr sz="800" b="0" i="0" u="none" strike="noStrike" kern="1200" spc="100" baseline="0">
                <a:solidFill>
                  <a:schemeClr val="lt1"/>
                </a:solidFill>
                <a:latin typeface="+mn-lt"/>
                <a:ea typeface="+mn-ea"/>
                <a:cs typeface="+mn-cs"/>
              </a:defRPr>
            </a:pPr>
            <a:endParaRPr lang="en-US"/>
          </a:p>
        </c:txPr>
        <c:crossAx val="47003680"/>
        <c:crosses val="autoZero"/>
        <c:auto val="1"/>
        <c:lblAlgn val="ctr"/>
        <c:lblOffset val="100"/>
        <c:noMultiLvlLbl val="0"/>
      </c:catAx>
      <c:valAx>
        <c:axId val="47003680"/>
        <c:scaling>
          <c:orientation val="minMax"/>
        </c:scaling>
        <c:delete val="0"/>
        <c:axPos val="l"/>
        <c:majorGridlines>
          <c:spPr>
            <a:ln w="9525" cap="flat" cmpd="sng" algn="ctr">
              <a:solidFill>
                <a:schemeClr val="lt1">
                  <a:alpha val="2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lt1"/>
                    </a:solidFill>
                    <a:latin typeface="+mn-lt"/>
                    <a:ea typeface="+mn-ea"/>
                    <a:cs typeface="+mn-cs"/>
                  </a:defRPr>
                </a:pPr>
                <a:r>
                  <a:rPr lang="en-IN" dirty="0"/>
                  <a:t>TOTAL TICKETS</a:t>
                </a:r>
              </a:p>
            </c:rich>
          </c:tx>
          <c:layout>
            <c:manualLayout>
              <c:xMode val="edge"/>
              <c:yMode val="edge"/>
              <c:x val="2.6096912911233089E-2"/>
              <c:y val="0.34472217955175771"/>
            </c:manualLayout>
          </c:layout>
          <c:overlay val="0"/>
          <c:spPr>
            <a:noFill/>
            <a:ln>
              <a:noFill/>
            </a:ln>
            <a:effectLst/>
          </c:spPr>
          <c:txPr>
            <a:bodyPr rot="-5400000" spcFirstLastPara="1" vertOverflow="ellipsis" vert="horz" wrap="square" anchor="ctr" anchorCtr="1"/>
            <a:lstStyle/>
            <a:p>
              <a:pPr>
                <a:defRPr sz="900" b="1" i="0" u="none" strike="noStrike" kern="1200" baseline="0">
                  <a:solidFill>
                    <a:schemeClr val="lt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solidFill>
                <a:latin typeface="+mn-lt"/>
                <a:ea typeface="+mn-ea"/>
                <a:cs typeface="+mn-cs"/>
              </a:defRPr>
            </a:pPr>
            <a:endParaRPr lang="en-US"/>
          </a:p>
        </c:txPr>
        <c:crossAx val="470032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lrMapOvr bg1="lt1" tx1="dk1" bg2="lt2" tx2="dk2" accent1="accent1" accent2="accent2" accent3="accent3" accent4="accent4" accent5="accent5" accent6="accent6" hlink="hlink" folHlink="folHlink"/>
  <c:pivotSource>
    <c:name>[Chandan_IT_Tickets_Analysis.xlsx]Pivots!Pivots_Count of tickets by request category</c:name>
    <c:fmtId val="-1"/>
  </c:pivotSource>
  <c:chart>
    <c:autoTitleDeleted val="1"/>
    <c:pivotFmts>
      <c:pivotFmt>
        <c:idx val="0"/>
        <c:spPr>
          <a:solidFill>
            <a:schemeClr val="accent6"/>
          </a:solidFill>
          <a:ln>
            <a:noFill/>
          </a:ln>
          <a:effectLst>
            <a:outerShdw blurRad="254000" sx="102000" sy="102000" algn="ctr" rotWithShape="0">
              <a:prstClr val="black">
                <a:alpha val="20000"/>
              </a:prstClr>
            </a:outerShdw>
          </a:effectLst>
        </c:spPr>
        <c:marker>
          <c:symbol val="circle"/>
          <c:size val="6"/>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6"/>
          </a:solidFill>
          <a:ln>
            <a:noFill/>
          </a:ln>
          <a:effectLst>
            <a:outerShdw blurRad="254000" sx="102000" sy="102000" algn="ctr" rotWithShape="0">
              <a:prstClr val="black">
                <a:alpha val="20000"/>
              </a:prstClr>
            </a:out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6"/>
          </a:solidFill>
          <a:ln>
            <a:noFill/>
          </a:ln>
          <a:effectLst>
            <a:outerShdw blurRad="254000" sx="102000" sy="102000" algn="ctr" rotWithShape="0">
              <a:prstClr val="black">
                <a:alpha val="20000"/>
              </a:prstClr>
            </a:outerShdw>
          </a:effectLst>
        </c:spPr>
      </c:pivotFmt>
      <c:pivotFmt>
        <c:idx val="3"/>
        <c:spPr>
          <a:solidFill>
            <a:schemeClr val="accent6"/>
          </a:solidFill>
          <a:ln>
            <a:noFill/>
          </a:ln>
          <a:effectLst>
            <a:outerShdw blurRad="254000" sx="102000" sy="102000" algn="ctr" rotWithShape="0">
              <a:prstClr val="black">
                <a:alpha val="20000"/>
              </a:prstClr>
            </a:outerShdw>
          </a:effectLst>
        </c:spPr>
      </c:pivotFmt>
      <c:pivotFmt>
        <c:idx val="4"/>
        <c:spPr>
          <a:solidFill>
            <a:schemeClr val="accent6"/>
          </a:solidFill>
          <a:ln>
            <a:noFill/>
          </a:ln>
          <a:effectLst>
            <a:outerShdw blurRad="254000" sx="102000" sy="102000" algn="ctr" rotWithShape="0">
              <a:prstClr val="black">
                <a:alpha val="20000"/>
              </a:prstClr>
            </a:outerShdw>
          </a:effectLst>
        </c:spPr>
      </c:pivotFmt>
      <c:pivotFmt>
        <c:idx val="5"/>
        <c:spPr>
          <a:solidFill>
            <a:schemeClr val="accent6"/>
          </a:solidFill>
          <a:ln>
            <a:noFill/>
          </a:ln>
          <a:effectLst>
            <a:outerShdw blurRad="254000" sx="102000" sy="102000" algn="ctr" rotWithShape="0">
              <a:prstClr val="black">
                <a:alpha val="20000"/>
              </a:prstClr>
            </a:outerShdw>
          </a:effectLst>
        </c:spPr>
      </c:pivotFmt>
      <c:pivotFmt>
        <c:idx val="6"/>
        <c:spPr>
          <a:solidFill>
            <a:schemeClr val="accent6"/>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6"/>
          </a:solidFill>
          <a:ln>
            <a:noFill/>
          </a:ln>
          <a:effectLst>
            <a:innerShdw blurRad="63500" dist="50800" dir="13500000">
              <a:prstClr val="black">
                <a:alpha val="50000"/>
              </a:prstClr>
            </a:innerShdw>
          </a:effectLst>
        </c:spPr>
      </c:pivotFmt>
      <c:pivotFmt>
        <c:idx val="8"/>
        <c:spPr>
          <a:solidFill>
            <a:schemeClr val="accent6"/>
          </a:solidFill>
          <a:ln>
            <a:noFill/>
          </a:ln>
          <a:effectLst>
            <a:innerShdw blurRad="63500" dist="50800" dir="13500000">
              <a:prstClr val="black">
                <a:alpha val="50000"/>
              </a:prstClr>
            </a:innerShdw>
          </a:effectLst>
        </c:spPr>
      </c:pivotFmt>
      <c:pivotFmt>
        <c:idx val="9"/>
        <c:spPr>
          <a:solidFill>
            <a:schemeClr val="accent6"/>
          </a:solidFill>
          <a:ln>
            <a:noFill/>
          </a:ln>
          <a:effectLst>
            <a:innerShdw blurRad="63500" dist="50800" dir="13500000">
              <a:prstClr val="black">
                <a:alpha val="50000"/>
              </a:prstClr>
            </a:innerShdw>
          </a:effectLst>
        </c:spPr>
      </c:pivotFmt>
      <c:pivotFmt>
        <c:idx val="10"/>
        <c:spPr>
          <a:solidFill>
            <a:schemeClr val="accent6"/>
          </a:solidFill>
          <a:ln>
            <a:noFill/>
          </a:ln>
          <a:effectLst>
            <a:innerShdw blurRad="63500" dist="50800" dir="13500000">
              <a:prstClr val="black">
                <a:alpha val="50000"/>
              </a:prstClr>
            </a:innerShdw>
          </a:effectLst>
        </c:spPr>
      </c:pivotFmt>
      <c:pivotFmt>
        <c:idx val="11"/>
        <c:spPr>
          <a:solidFill>
            <a:schemeClr val="accent6"/>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6"/>
          </a:solidFill>
          <a:ln>
            <a:noFill/>
          </a:ln>
          <a:effectLst>
            <a:innerShdw blurRad="63500" dist="50800" dir="13500000">
              <a:prstClr val="black">
                <a:alpha val="50000"/>
              </a:prstClr>
            </a:innerShdw>
          </a:effectLst>
        </c:spPr>
      </c:pivotFmt>
      <c:pivotFmt>
        <c:idx val="13"/>
        <c:spPr>
          <a:solidFill>
            <a:schemeClr val="accent6"/>
          </a:solidFill>
          <a:ln>
            <a:noFill/>
          </a:ln>
          <a:effectLst>
            <a:innerShdw blurRad="63500" dist="50800" dir="13500000">
              <a:prstClr val="black">
                <a:alpha val="50000"/>
              </a:prstClr>
            </a:innerShdw>
          </a:effectLst>
        </c:spPr>
      </c:pivotFmt>
      <c:pivotFmt>
        <c:idx val="14"/>
        <c:spPr>
          <a:solidFill>
            <a:schemeClr val="accent6"/>
          </a:solidFill>
          <a:ln>
            <a:noFill/>
          </a:ln>
          <a:effectLst>
            <a:innerShdw blurRad="63500" dist="50800" dir="13500000">
              <a:prstClr val="black">
                <a:alpha val="50000"/>
              </a:prstClr>
            </a:innerShdw>
          </a:effectLst>
        </c:spPr>
      </c:pivotFmt>
      <c:pivotFmt>
        <c:idx val="15"/>
        <c:spPr>
          <a:solidFill>
            <a:schemeClr val="accent6"/>
          </a:solidFill>
          <a:ln>
            <a:noFill/>
          </a:ln>
          <a:effectLst>
            <a:innerShdw blurRad="63500" dist="50800" dir="13500000">
              <a:prstClr val="black">
                <a:alpha val="50000"/>
              </a:prstClr>
            </a:innerShdw>
          </a:effectLst>
        </c:spPr>
      </c:pivotFmt>
      <c:pivotFmt>
        <c:idx val="16"/>
        <c:spPr>
          <a:solidFill>
            <a:schemeClr val="accent6"/>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7"/>
        <c:spPr>
          <a:solidFill>
            <a:schemeClr val="accent6"/>
          </a:solidFill>
          <a:ln>
            <a:noFill/>
          </a:ln>
          <a:effectLst>
            <a:innerShdw blurRad="63500" dist="50800" dir="13500000">
              <a:prstClr val="black">
                <a:alpha val="50000"/>
              </a:prstClr>
            </a:innerShdw>
          </a:effectLst>
        </c:spPr>
      </c:pivotFmt>
      <c:pivotFmt>
        <c:idx val="18"/>
        <c:spPr>
          <a:solidFill>
            <a:schemeClr val="accent6"/>
          </a:solidFill>
          <a:ln>
            <a:noFill/>
          </a:ln>
          <a:effectLst>
            <a:innerShdw blurRad="63500" dist="50800" dir="13500000">
              <a:prstClr val="black">
                <a:alpha val="50000"/>
              </a:prstClr>
            </a:innerShdw>
          </a:effectLst>
        </c:spPr>
      </c:pivotFmt>
      <c:pivotFmt>
        <c:idx val="19"/>
        <c:spPr>
          <a:solidFill>
            <a:schemeClr val="accent6"/>
          </a:solidFill>
          <a:ln>
            <a:noFill/>
          </a:ln>
          <a:effectLst>
            <a:innerShdw blurRad="63500" dist="50800" dir="13500000">
              <a:prstClr val="black">
                <a:alpha val="50000"/>
              </a:prstClr>
            </a:innerShdw>
          </a:effectLst>
        </c:spPr>
      </c:pivotFmt>
      <c:pivotFmt>
        <c:idx val="20"/>
        <c:spPr>
          <a:solidFill>
            <a:schemeClr val="accent6"/>
          </a:solidFill>
          <a:ln>
            <a:noFill/>
          </a:ln>
          <a:effectLst>
            <a:innerShdw blurRad="63500" dist="50800" dir="13500000">
              <a:prstClr val="black">
                <a:alpha val="50000"/>
              </a:prstClr>
            </a:innerShdw>
          </a:effectLst>
        </c:spPr>
      </c:pivotFmt>
    </c:pivotFmts>
    <c:plotArea>
      <c:layout>
        <c:manualLayout>
          <c:layoutTarget val="inner"/>
          <c:xMode val="edge"/>
          <c:yMode val="edge"/>
          <c:x val="9.1970351850859097E-2"/>
          <c:y val="7.8174568194427876E-2"/>
          <c:w val="0.79336751675543404"/>
          <c:h val="0.69832903817933867"/>
        </c:manualLayout>
      </c:layout>
      <c:doughnutChart>
        <c:varyColors val="1"/>
        <c:ser>
          <c:idx val="0"/>
          <c:order val="0"/>
          <c:tx>
            <c:strRef>
              <c:f>Pivots!$E$2</c:f>
              <c:strCache>
                <c:ptCount val="1"/>
                <c:pt idx="0">
                  <c:v>Total</c:v>
                </c:pt>
              </c:strCache>
            </c:strRef>
          </c:tx>
          <c:spPr>
            <a:effectLst>
              <a:innerShdw blurRad="63500" dist="50800" dir="13500000">
                <a:prstClr val="black">
                  <a:alpha val="50000"/>
                </a:prstClr>
              </a:innerShdw>
            </a:effectLst>
          </c:spPr>
          <c:explosion val="4"/>
          <c:dPt>
            <c:idx val="0"/>
            <c:bubble3D val="0"/>
            <c:spPr>
              <a:solidFill>
                <a:schemeClr val="accent6">
                  <a:shade val="58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1-4B73-4859-BCE8-2DB1FDEBF172}"/>
              </c:ext>
            </c:extLst>
          </c:dPt>
          <c:dPt>
            <c:idx val="1"/>
            <c:bubble3D val="0"/>
            <c:spPr>
              <a:solidFill>
                <a:schemeClr val="accent6">
                  <a:shade val="86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3-4B73-4859-BCE8-2DB1FDEBF172}"/>
              </c:ext>
            </c:extLst>
          </c:dPt>
          <c:dPt>
            <c:idx val="2"/>
            <c:bubble3D val="0"/>
            <c:spPr>
              <a:solidFill>
                <a:schemeClr val="accent6">
                  <a:tint val="86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5-4B73-4859-BCE8-2DB1FDEBF172}"/>
              </c:ext>
            </c:extLst>
          </c:dPt>
          <c:dPt>
            <c:idx val="3"/>
            <c:bubble3D val="0"/>
            <c:spPr>
              <a:solidFill>
                <a:schemeClr val="accent6">
                  <a:tint val="58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7-4B73-4859-BCE8-2DB1FDEBF172}"/>
              </c:ext>
            </c:extLst>
          </c:dPt>
          <c:dLbls>
            <c:spPr>
              <a:solidFill>
                <a:schemeClr val="accent1">
                  <a:lumMod val="40000"/>
                  <a:lumOff val="60000"/>
                </a:schemeClr>
              </a:solid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mn-lt"/>
                    <a:ea typeface="+mn-ea"/>
                    <a:cs typeface="+mn-cs"/>
                  </a:defRPr>
                </a:pPr>
                <a:endParaRPr lang="en-US"/>
              </a:p>
            </c:txP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Pivots!$D$3:$D$6</c:f>
              <c:strCache>
                <c:ptCount val="4"/>
                <c:pt idx="0">
                  <c:v>Hardware</c:v>
                </c:pt>
                <c:pt idx="1">
                  <c:v>Login Access</c:v>
                </c:pt>
                <c:pt idx="2">
                  <c:v>Software</c:v>
                </c:pt>
                <c:pt idx="3">
                  <c:v>System</c:v>
                </c:pt>
              </c:strCache>
            </c:strRef>
          </c:cat>
          <c:val>
            <c:numRef>
              <c:f>Pivots!$E$3:$E$6</c:f>
              <c:numCache>
                <c:formatCode>General</c:formatCode>
                <c:ptCount val="4"/>
                <c:pt idx="0">
                  <c:v>9733</c:v>
                </c:pt>
                <c:pt idx="1">
                  <c:v>29193</c:v>
                </c:pt>
                <c:pt idx="2">
                  <c:v>19570</c:v>
                </c:pt>
                <c:pt idx="3">
                  <c:v>39002</c:v>
                </c:pt>
              </c:numCache>
            </c:numRef>
          </c:val>
          <c:extLst>
            <c:ext xmlns:c16="http://schemas.microsoft.com/office/drawing/2014/chart" uri="{C3380CC4-5D6E-409C-BE32-E72D297353CC}">
              <c16:uniqueId val="{00000008-4B73-4859-BCE8-2DB1FDEBF172}"/>
            </c:ext>
          </c:extLst>
        </c:ser>
        <c:dLbls>
          <c:showLegendKey val="0"/>
          <c:showVal val="0"/>
          <c:showCatName val="0"/>
          <c:showSerName val="0"/>
          <c:showPercent val="1"/>
          <c:showBubbleSize val="0"/>
          <c:showLeaderLines val="1"/>
        </c:dLbls>
        <c:firstSliceAng val="0"/>
        <c:holeSize val="50"/>
      </c:doughnutChart>
      <c:spPr>
        <a:noFill/>
        <a:ln>
          <a:noFill/>
        </a:ln>
        <a:effectLst/>
      </c:spPr>
    </c:plotArea>
    <c:legend>
      <c:legendPos val="r"/>
      <c:layout>
        <c:manualLayout>
          <c:xMode val="edge"/>
          <c:yMode val="edge"/>
          <c:x val="0.20574765730255332"/>
          <c:y val="0.81762248966829654"/>
          <c:w val="0.59108788230283305"/>
          <c:h val="0.18237751033170344"/>
        </c:manualLayout>
      </c:layout>
      <c:overlay val="0"/>
      <c:spPr>
        <a:noFill/>
        <a:ln>
          <a:noFill/>
        </a:ln>
        <a:effectLst/>
      </c:spPr>
      <c:txPr>
        <a:bodyPr rot="0" spcFirstLastPara="1" vertOverflow="ellipsis" vert="horz" wrap="square" anchor="ctr" anchorCtr="1"/>
        <a:lstStyle/>
        <a:p>
          <a:pPr>
            <a:defRPr sz="1050" b="0" i="1"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[Chandan_IT_Tickets_Analysis.xlsx]Pivots!Pivots_Ticket by severity rate</c:name>
    <c:fmtId val="-1"/>
  </c:pivotSource>
  <c:chart>
    <c:autoTitleDeleted val="1"/>
    <c:pivotFmts>
      <c:pivotFmt>
        <c:idx val="0"/>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symbol val="circle"/>
          <c:size val="6"/>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dLbl>
          <c:idx val="0"/>
          <c:spPr>
            <a:solidFill>
              <a:sysClr val="windowText" lastClr="000000">
                <a:lumMod val="65000"/>
                <a:lumOff val="35000"/>
                <a:alpha val="75000"/>
              </a:sysClr>
            </a:solid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solidFill>
              <a:sysClr val="windowText" lastClr="000000">
                <a:lumMod val="65000"/>
                <a:lumOff val="35000"/>
                <a:alpha val="75000"/>
              </a:sysClr>
            </a:solidFill>
            <a:ln>
              <a:no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solidFill>
              <a:sysClr val="windowText" lastClr="000000">
                <a:lumMod val="65000"/>
                <a:lumOff val="35000"/>
              </a:sysClr>
            </a:solidFill>
            <a:ln>
              <a:noFill/>
            </a:ln>
            <a:effectLst/>
          </c:spPr>
          <c:txPr>
            <a:bodyPr rot="0" spcFirstLastPara="1" vertOverflow="clip" horzOverflow="clip"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3"/>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solidFill>
              <a:sysClr val="windowText" lastClr="000000">
                <a:lumMod val="65000"/>
                <a:lumOff val="35000"/>
              </a:sysClr>
            </a:solidFill>
            <a:ln>
              <a:noFill/>
            </a:ln>
            <a:effectLst/>
          </c:spPr>
          <c:txPr>
            <a:bodyPr rot="0" spcFirstLastPara="1" vertOverflow="clip" horzOverflow="clip"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4"/>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marker>
          <c:symbol val="none"/>
        </c:marker>
        <c:dLbl>
          <c:idx val="0"/>
          <c:spPr>
            <a:solidFill>
              <a:sysClr val="windowText" lastClr="000000">
                <a:lumMod val="65000"/>
                <a:lumOff val="35000"/>
              </a:sysClr>
            </a:solidFill>
            <a:ln>
              <a:noFill/>
            </a:ln>
            <a:effectLst/>
          </c:spPr>
          <c:txPr>
            <a:bodyPr rot="0" spcFirstLastPara="1" vertOverflow="clip" horzOverflow="clip"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s>
    <c:plotArea>
      <c:layout/>
      <c:barChart>
        <c:barDir val="col"/>
        <c:grouping val="clustered"/>
        <c:varyColors val="0"/>
        <c:ser>
          <c:idx val="0"/>
          <c:order val="0"/>
          <c:tx>
            <c:strRef>
              <c:f>Pivots!$E$10</c:f>
              <c:strCache>
                <c:ptCount val="1"/>
                <c:pt idx="0">
                  <c:v>Total</c:v>
                </c:pt>
              </c:strCache>
            </c:strRef>
          </c:tx>
          <c:spPr>
            <a:gradFill>
              <a:gsLst>
                <a:gs pos="0">
                  <a:schemeClr val="accent6"/>
                </a:gs>
                <a:gs pos="100000">
                  <a:schemeClr val="accent6">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solidFill>
                <a:sysClr val="windowText" lastClr="000000">
                  <a:lumMod val="65000"/>
                  <a:lumOff val="35000"/>
                </a:sysClr>
              </a:solidFill>
              <a:ln>
                <a:noFill/>
              </a:ln>
              <a:effectLst/>
            </c:spPr>
            <c:txPr>
              <a:bodyPr rot="0" spcFirstLastPara="1" vertOverflow="clip" horzOverflow="clip" vert="horz" wrap="square" lIns="38100" tIns="19050" rIns="38100" bIns="19050" anchor="ctr" anchorCtr="1">
                <a:spAutoFit/>
              </a:bodyPr>
              <a:lstStyle/>
              <a:p>
                <a:pPr>
                  <a:defRPr sz="105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cat>
            <c:strRef>
              <c:f>Pivots!$D$11:$D$15</c:f>
              <c:strCache>
                <c:ptCount val="5"/>
                <c:pt idx="0">
                  <c:v>0</c:v>
                </c:pt>
                <c:pt idx="1">
                  <c:v>1</c:v>
                </c:pt>
                <c:pt idx="2">
                  <c:v>2</c:v>
                </c:pt>
                <c:pt idx="3">
                  <c:v>3</c:v>
                </c:pt>
                <c:pt idx="4">
                  <c:v>4</c:v>
                </c:pt>
              </c:strCache>
            </c:strRef>
          </c:cat>
          <c:val>
            <c:numRef>
              <c:f>Pivots!$E$11:$E$15</c:f>
              <c:numCache>
                <c:formatCode>General</c:formatCode>
                <c:ptCount val="5"/>
                <c:pt idx="0">
                  <c:v>356</c:v>
                </c:pt>
                <c:pt idx="1">
                  <c:v>2258</c:v>
                </c:pt>
                <c:pt idx="2">
                  <c:v>88656</c:v>
                </c:pt>
                <c:pt idx="3">
                  <c:v>4836</c:v>
                </c:pt>
                <c:pt idx="4">
                  <c:v>1392</c:v>
                </c:pt>
              </c:numCache>
            </c:numRef>
          </c:val>
          <c:extLst>
            <c:ext xmlns:c16="http://schemas.microsoft.com/office/drawing/2014/chart" uri="{C3380CC4-5D6E-409C-BE32-E72D297353CC}">
              <c16:uniqueId val="{00000000-E0B0-4BE1-95D1-D6CD69A37942}"/>
            </c:ext>
          </c:extLst>
        </c:ser>
        <c:dLbls>
          <c:showLegendKey val="0"/>
          <c:showVal val="1"/>
          <c:showCatName val="0"/>
          <c:showSerName val="0"/>
          <c:showPercent val="0"/>
          <c:showBubbleSize val="0"/>
        </c:dLbls>
        <c:gapWidth val="41"/>
        <c:axId val="1901994783"/>
        <c:axId val="1901996223"/>
      </c:barChart>
      <c:catAx>
        <c:axId val="1901994783"/>
        <c:scaling>
          <c:orientation val="minMax"/>
        </c:scaling>
        <c:delete val="0"/>
        <c:axPos val="b"/>
        <c:title>
          <c:tx>
            <c:rich>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r>
                  <a:rPr lang="en-IN" sz="1050" b="1" dirty="0">
                    <a:solidFill>
                      <a:schemeClr val="tx1"/>
                    </a:solidFill>
                  </a:rPr>
                  <a:t>SEVERITY</a:t>
                </a:r>
                <a:r>
                  <a:rPr lang="en-IN" sz="1050" b="1" baseline="0" dirty="0">
                    <a:solidFill>
                      <a:schemeClr val="tx1"/>
                    </a:solidFill>
                  </a:rPr>
                  <a:t> RATE</a:t>
                </a:r>
                <a:endParaRPr lang="en-IN" sz="1050" b="1" dirty="0">
                  <a:solidFill>
                    <a:schemeClr val="tx1"/>
                  </a:solidFill>
                </a:endParaRPr>
              </a:p>
            </c:rich>
          </c:tx>
          <c:layout>
            <c:manualLayout>
              <c:xMode val="edge"/>
              <c:yMode val="edge"/>
              <c:x val="0.38694035400862709"/>
              <c:y val="0.92843122689575008"/>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effectLst/>
                <a:latin typeface="+mn-lt"/>
                <a:ea typeface="+mn-ea"/>
                <a:cs typeface="+mn-cs"/>
              </a:defRPr>
            </a:pPr>
            <a:endParaRPr lang="en-US"/>
          </a:p>
        </c:txPr>
        <c:crossAx val="1901996223"/>
        <c:crosses val="autoZero"/>
        <c:auto val="1"/>
        <c:lblAlgn val="ctr"/>
        <c:lblOffset val="100"/>
        <c:noMultiLvlLbl val="0"/>
      </c:catAx>
      <c:valAx>
        <c:axId val="1901996223"/>
        <c:scaling>
          <c:orientation val="minMax"/>
        </c:scaling>
        <c:delete val="1"/>
        <c:axPos val="l"/>
        <c:numFmt formatCode="General" sourceLinked="1"/>
        <c:majorTickMark val="none"/>
        <c:minorTickMark val="none"/>
        <c:tickLblPos val="nextTo"/>
        <c:crossAx val="1901994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[Chandan_IT_Tickets_Analysis.xlsx]Pivots!Pivots_Ticket by priority</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pivotFmt>
      <c:pivotFmt>
        <c:idx val="5"/>
      </c:pivotFmt>
      <c:pivotFmt>
        <c:idx val="6"/>
        <c:spPr>
          <a:solidFill>
            <a:schemeClr val="accent2"/>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a:innerShdw blurRad="63500" dist="50800" dir="13500000">
              <a:prstClr val="black">
                <a:alpha val="50000"/>
              </a:prstClr>
            </a:innerShdw>
          </a:effectLst>
        </c:spPr>
      </c:pivotFmt>
      <c:pivotFmt>
        <c:idx val="8"/>
        <c:spPr>
          <a:solidFill>
            <a:schemeClr val="accent2"/>
          </a:solidFill>
          <a:ln>
            <a:noFill/>
          </a:ln>
          <a:effectLst>
            <a:innerShdw blurRad="63500" dist="50800" dir="13500000">
              <a:prstClr val="black">
                <a:alpha val="50000"/>
              </a:prstClr>
            </a:innerShdw>
          </a:effectLst>
        </c:spPr>
      </c:pivotFmt>
      <c:pivotFmt>
        <c:idx val="9"/>
        <c:spPr>
          <a:solidFill>
            <a:schemeClr val="accent2"/>
          </a:solidFill>
          <a:ln>
            <a:noFill/>
          </a:ln>
          <a:effectLst>
            <a:innerShdw blurRad="63500" dist="50800" dir="13500000">
              <a:prstClr val="black">
                <a:alpha val="50000"/>
              </a:prstClr>
            </a:innerShdw>
          </a:effectLst>
        </c:spPr>
      </c:pivotFmt>
      <c:pivotFmt>
        <c:idx val="10"/>
        <c:spPr>
          <a:solidFill>
            <a:schemeClr val="accent2"/>
          </a:solidFill>
          <a:ln>
            <a:noFill/>
          </a:ln>
          <a:effectLst>
            <a:innerShdw blurRad="63500" dist="50800" dir="13500000">
              <a:prstClr val="black">
                <a:alpha val="50000"/>
              </a:prstClr>
            </a:innerShdw>
          </a:effectLst>
        </c:spPr>
      </c:pivotFmt>
      <c:pivotFmt>
        <c:idx val="11"/>
        <c:spPr>
          <a:solidFill>
            <a:schemeClr val="accent2"/>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a:innerShdw blurRad="63500" dist="50800" dir="13500000">
              <a:prstClr val="black">
                <a:alpha val="50000"/>
              </a:prstClr>
            </a:innerShdw>
          </a:effectLst>
        </c:spPr>
      </c:pivotFmt>
      <c:pivotFmt>
        <c:idx val="13"/>
        <c:spPr>
          <a:solidFill>
            <a:schemeClr val="accent2"/>
          </a:solidFill>
          <a:ln>
            <a:noFill/>
          </a:ln>
          <a:effectLst>
            <a:innerShdw blurRad="63500" dist="50800" dir="13500000">
              <a:prstClr val="black">
                <a:alpha val="50000"/>
              </a:prstClr>
            </a:innerShdw>
          </a:effectLst>
        </c:spPr>
      </c:pivotFmt>
      <c:pivotFmt>
        <c:idx val="14"/>
        <c:spPr>
          <a:solidFill>
            <a:schemeClr val="accent2"/>
          </a:solidFill>
          <a:ln>
            <a:noFill/>
          </a:ln>
          <a:effectLst>
            <a:innerShdw blurRad="63500" dist="50800" dir="13500000">
              <a:prstClr val="black">
                <a:alpha val="50000"/>
              </a:prstClr>
            </a:innerShdw>
          </a:effectLst>
        </c:spPr>
      </c:pivotFmt>
      <c:pivotFmt>
        <c:idx val="15"/>
        <c:spPr>
          <a:solidFill>
            <a:schemeClr val="accent2"/>
          </a:solidFill>
          <a:ln>
            <a:noFill/>
          </a:ln>
          <a:effectLst>
            <a:innerShdw blurRad="63500" dist="50800" dir="13500000">
              <a:prstClr val="black">
                <a:alpha val="50000"/>
              </a:prstClr>
            </a:innerShdw>
          </a:effectLst>
        </c:spPr>
      </c:pivotFmt>
      <c:pivotFmt>
        <c:idx val="16"/>
        <c:spPr>
          <a:solidFill>
            <a:schemeClr val="accent2"/>
          </a:solidFill>
          <a:ln>
            <a:noFill/>
          </a:ln>
          <a:effectLst>
            <a:innerShdw blurRad="63500" dist="50800" dir="13500000">
              <a:prstClr val="black">
                <a:alpha val="50000"/>
              </a:prstClr>
            </a:innerShdw>
          </a:effectLst>
        </c:spPr>
        <c:marker>
          <c:symbol val="none"/>
        </c:marker>
        <c:dLbl>
          <c:idx val="0"/>
          <c:spPr>
            <a:pattFill prst="pct75">
              <a:fgClr>
                <a:sysClr val="windowText" lastClr="000000">
                  <a:lumMod val="75000"/>
                  <a:lumOff val="25000"/>
                </a:sysClr>
              </a:fgClr>
              <a:bgClr>
                <a:sysClr val="windowText" lastClr="000000">
                  <a:lumMod val="65000"/>
                  <a:lumOff val="35000"/>
                </a:sys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7"/>
        <c:spPr>
          <a:solidFill>
            <a:schemeClr val="accent2"/>
          </a:solidFill>
          <a:ln>
            <a:noFill/>
          </a:ln>
          <a:effectLst>
            <a:innerShdw blurRad="63500" dist="50800" dir="13500000">
              <a:prstClr val="black">
                <a:alpha val="50000"/>
              </a:prstClr>
            </a:innerShdw>
          </a:effectLst>
        </c:spPr>
      </c:pivotFmt>
      <c:pivotFmt>
        <c:idx val="18"/>
        <c:spPr>
          <a:solidFill>
            <a:schemeClr val="accent2"/>
          </a:solidFill>
          <a:ln>
            <a:noFill/>
          </a:ln>
          <a:effectLst>
            <a:innerShdw blurRad="63500" dist="50800" dir="13500000">
              <a:prstClr val="black">
                <a:alpha val="50000"/>
              </a:prstClr>
            </a:innerShdw>
          </a:effectLst>
        </c:spPr>
      </c:pivotFmt>
      <c:pivotFmt>
        <c:idx val="19"/>
        <c:spPr>
          <a:solidFill>
            <a:schemeClr val="accent2"/>
          </a:solidFill>
          <a:ln>
            <a:noFill/>
          </a:ln>
          <a:effectLst>
            <a:innerShdw blurRad="63500" dist="50800" dir="13500000">
              <a:prstClr val="black">
                <a:alpha val="50000"/>
              </a:prstClr>
            </a:innerShdw>
          </a:effectLst>
        </c:spPr>
      </c:pivotFmt>
      <c:pivotFmt>
        <c:idx val="20"/>
        <c:spPr>
          <a:solidFill>
            <a:schemeClr val="accent2"/>
          </a:solidFill>
          <a:ln>
            <a:noFill/>
          </a:ln>
          <a:effectLst>
            <a:innerShdw blurRad="63500" dist="50800" dir="13500000">
              <a:prstClr val="black">
                <a:alpha val="50000"/>
              </a:prstClr>
            </a:innerShdw>
          </a:effectLst>
        </c:spPr>
      </c:pivotFmt>
    </c:pivotFmts>
    <c:plotArea>
      <c:layout>
        <c:manualLayout>
          <c:layoutTarget val="inner"/>
          <c:xMode val="edge"/>
          <c:yMode val="edge"/>
          <c:x val="0.10491694987633671"/>
          <c:y val="5.4576177535126197E-2"/>
          <c:w val="0.7947222914183022"/>
          <c:h val="0.71210454766603004"/>
        </c:manualLayout>
      </c:layout>
      <c:doughnutChart>
        <c:varyColors val="1"/>
        <c:ser>
          <c:idx val="0"/>
          <c:order val="0"/>
          <c:tx>
            <c:strRef>
              <c:f>Pivots!$H$10</c:f>
              <c:strCache>
                <c:ptCount val="1"/>
                <c:pt idx="0">
                  <c:v>Total</c:v>
                </c:pt>
              </c:strCache>
            </c:strRef>
          </c:tx>
          <c:spPr>
            <a:effectLst>
              <a:innerShdw blurRad="63500" dist="50800" dir="13500000">
                <a:prstClr val="black">
                  <a:alpha val="50000"/>
                </a:prstClr>
              </a:innerShdw>
            </a:effectLst>
          </c:spPr>
          <c:explosion val="4"/>
          <c:dPt>
            <c:idx val="0"/>
            <c:bubble3D val="0"/>
            <c:spPr>
              <a:solidFill>
                <a:schemeClr val="accent2">
                  <a:shade val="58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1-AC11-49B4-A173-BA7FBFAD3277}"/>
              </c:ext>
            </c:extLst>
          </c:dPt>
          <c:dPt>
            <c:idx val="1"/>
            <c:bubble3D val="0"/>
            <c:spPr>
              <a:solidFill>
                <a:schemeClr val="accent2">
                  <a:shade val="86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3-AC11-49B4-A173-BA7FBFAD3277}"/>
              </c:ext>
            </c:extLst>
          </c:dPt>
          <c:dPt>
            <c:idx val="2"/>
            <c:bubble3D val="0"/>
            <c:spPr>
              <a:solidFill>
                <a:schemeClr val="accent2">
                  <a:tint val="86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5-AC11-49B4-A173-BA7FBFAD3277}"/>
              </c:ext>
            </c:extLst>
          </c:dPt>
          <c:dPt>
            <c:idx val="3"/>
            <c:bubble3D val="0"/>
            <c:spPr>
              <a:solidFill>
                <a:schemeClr val="accent2">
                  <a:tint val="58000"/>
                </a:schemeClr>
              </a:solidFill>
              <a:ln>
                <a:noFill/>
              </a:ln>
              <a:effectLst>
                <a:innerShdw blurRad="63500" dist="50800" dir="13500000">
                  <a:prstClr val="black">
                    <a:alpha val="50000"/>
                  </a:prstClr>
                </a:innerShdw>
              </a:effectLst>
            </c:spPr>
            <c:extLst>
              <c:ext xmlns:c16="http://schemas.microsoft.com/office/drawing/2014/chart" uri="{C3380CC4-5D6E-409C-BE32-E72D297353CC}">
                <c16:uniqueId val="{00000007-AC11-49B4-A173-BA7FBFAD3277}"/>
              </c:ext>
            </c:extLst>
          </c:dPt>
          <c:dLbls>
            <c:spPr>
              <a:no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Pivots!$G$11:$G$14</c:f>
              <c:strCache>
                <c:ptCount val="4"/>
                <c:pt idx="0">
                  <c:v>0</c:v>
                </c:pt>
                <c:pt idx="1">
                  <c:v>1</c:v>
                </c:pt>
                <c:pt idx="2">
                  <c:v>2</c:v>
                </c:pt>
                <c:pt idx="3">
                  <c:v>3</c:v>
                </c:pt>
              </c:strCache>
            </c:strRef>
          </c:cat>
          <c:val>
            <c:numRef>
              <c:f>Pivots!$H$11:$H$14</c:f>
              <c:numCache>
                <c:formatCode>General</c:formatCode>
                <c:ptCount val="4"/>
                <c:pt idx="0">
                  <c:v>29410</c:v>
                </c:pt>
                <c:pt idx="1">
                  <c:v>16694</c:v>
                </c:pt>
                <c:pt idx="2">
                  <c:v>15845</c:v>
                </c:pt>
                <c:pt idx="3">
                  <c:v>35549</c:v>
                </c:pt>
              </c:numCache>
            </c:numRef>
          </c:val>
          <c:extLst>
            <c:ext xmlns:c16="http://schemas.microsoft.com/office/drawing/2014/chart" uri="{C3380CC4-5D6E-409C-BE32-E72D297353CC}">
              <c16:uniqueId val="{00000008-AC11-49B4-A173-BA7FBFAD3277}"/>
            </c:ext>
          </c:extLst>
        </c:ser>
        <c:dLbls>
          <c:showLegendKey val="0"/>
          <c:showVal val="0"/>
          <c:showCatName val="0"/>
          <c:showSerName val="0"/>
          <c:showPercent val="1"/>
          <c:showBubbleSize val="0"/>
          <c:showLeaderLines val="1"/>
        </c:dLbls>
        <c:firstSliceAng val="0"/>
        <c:holeSize val="50"/>
      </c:doughnutChart>
      <c:spPr>
        <a:noFill/>
        <a:ln>
          <a:noFill/>
        </a:ln>
        <a:effectLst>
          <a:innerShdw blurRad="63500" dist="50800" dir="13500000">
            <a:prstClr val="black">
              <a:alpha val="50000"/>
            </a:prstClr>
          </a:innerShdw>
        </a:effectLst>
      </c:spPr>
    </c:plotArea>
    <c:legend>
      <c:legendPos val="r"/>
      <c:legendEntry>
        <c:idx val="0"/>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egendEntry>
        <c:idx val="1"/>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egendEntry>
        <c:idx val="2"/>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egendEntry>
        <c:idx val="3"/>
        <c:txPr>
          <a:bodyPr rot="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legendEntry>
      <c:layout>
        <c:manualLayout>
          <c:xMode val="edge"/>
          <c:yMode val="edge"/>
          <c:x val="0.24893518353765948"/>
          <c:y val="0.81559047464120216"/>
          <c:w val="0.49789186705197203"/>
          <c:h val="7.8030414737483608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[Chandan_IT_Tickets_Analysis.xlsx]Pivots!Pivots_Distribution of tickets based on satisfaction score</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4625749225683671"/>
          <c:y val="4.3676791741115745E-2"/>
          <c:w val="0.71824718667184995"/>
          <c:h val="0.79223728659885351"/>
        </c:manualLayout>
      </c:layout>
      <c:barChart>
        <c:barDir val="col"/>
        <c:grouping val="clustered"/>
        <c:varyColors val="0"/>
        <c:ser>
          <c:idx val="0"/>
          <c:order val="0"/>
          <c:tx>
            <c:strRef>
              <c:f>Pivots!$B$21</c:f>
              <c:strCache>
                <c:ptCount val="1"/>
                <c:pt idx="0">
                  <c:v>Total</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trendline>
            <c:spPr>
              <a:ln w="38100" cap="rnd">
                <a:solidFill>
                  <a:srgbClr val="FF0000"/>
                </a:solidFill>
                <a:prstDash val="sysDot"/>
                <a:headEnd type="diamond"/>
                <a:tailEnd type="diamond"/>
              </a:ln>
              <a:effectLst/>
            </c:spPr>
            <c:trendlineType val="poly"/>
            <c:order val="2"/>
            <c:dispRSqr val="0"/>
            <c:dispEq val="0"/>
          </c:trendline>
          <c:cat>
            <c:strRef>
              <c:f>Pivots!$A$22:$A$26</c:f>
              <c:strCache>
                <c:ptCount val="5"/>
                <c:pt idx="0">
                  <c:v>1</c:v>
                </c:pt>
                <c:pt idx="1">
                  <c:v>2</c:v>
                </c:pt>
                <c:pt idx="2">
                  <c:v>3</c:v>
                </c:pt>
                <c:pt idx="3">
                  <c:v>4</c:v>
                </c:pt>
                <c:pt idx="4">
                  <c:v>5</c:v>
                </c:pt>
              </c:strCache>
            </c:strRef>
          </c:cat>
          <c:val>
            <c:numRef>
              <c:f>Pivots!$B$22:$B$26</c:f>
              <c:numCache>
                <c:formatCode>General</c:formatCode>
                <c:ptCount val="5"/>
                <c:pt idx="0">
                  <c:v>9907</c:v>
                </c:pt>
                <c:pt idx="1">
                  <c:v>1977</c:v>
                </c:pt>
                <c:pt idx="2">
                  <c:v>7282</c:v>
                </c:pt>
                <c:pt idx="3">
                  <c:v>27562</c:v>
                </c:pt>
                <c:pt idx="4">
                  <c:v>50770</c:v>
                </c:pt>
              </c:numCache>
            </c:numRef>
          </c:val>
          <c:extLst>
            <c:ext xmlns:c16="http://schemas.microsoft.com/office/drawing/2014/chart" uri="{C3380CC4-5D6E-409C-BE32-E72D297353CC}">
              <c16:uniqueId val="{00000000-37A2-46F3-99F7-E19CB8BCB74B}"/>
            </c:ext>
          </c:extLst>
        </c:ser>
        <c:dLbls>
          <c:showLegendKey val="0"/>
          <c:showVal val="1"/>
          <c:showCatName val="0"/>
          <c:showSerName val="0"/>
          <c:showPercent val="0"/>
          <c:showBubbleSize val="0"/>
        </c:dLbls>
        <c:gapWidth val="100"/>
        <c:overlap val="-24"/>
        <c:axId val="957197935"/>
        <c:axId val="957189775"/>
      </c:barChart>
      <c:catAx>
        <c:axId val="957197935"/>
        <c:scaling>
          <c:orientation val="minMax"/>
        </c:scaling>
        <c:delete val="0"/>
        <c:axPos val="b"/>
        <c:title>
          <c:tx>
            <c:rich>
              <a:bodyPr rot="0" spcFirstLastPara="1" vertOverflow="ellipsis" vert="horz" wrap="square" anchor="ctr" anchorCtr="1"/>
              <a:lstStyle/>
              <a:p>
                <a:pPr>
                  <a:defRPr sz="700" b="1" i="0" u="none" strike="noStrike" kern="1200" cap="all" baseline="0">
                    <a:solidFill>
                      <a:schemeClr val="lt1">
                        <a:lumMod val="85000"/>
                      </a:schemeClr>
                    </a:solidFill>
                    <a:latin typeface="+mn-lt"/>
                    <a:ea typeface="+mn-ea"/>
                    <a:cs typeface="+mn-cs"/>
                  </a:defRPr>
                </a:pPr>
                <a:r>
                  <a:rPr lang="en-IN" sz="1000" dirty="0"/>
                  <a:t>SATISFACTION</a:t>
                </a:r>
                <a:r>
                  <a:rPr lang="en-IN" sz="700" dirty="0"/>
                  <a:t> </a:t>
                </a:r>
                <a:r>
                  <a:rPr lang="en-IN" sz="1000" dirty="0"/>
                  <a:t>RATE</a:t>
                </a:r>
                <a:endParaRPr lang="en-IN" sz="700" dirty="0"/>
              </a:p>
            </c:rich>
          </c:tx>
          <c:layout>
            <c:manualLayout>
              <c:xMode val="edge"/>
              <c:yMode val="edge"/>
              <c:x val="0.40287214824187634"/>
              <c:y val="0.93510010176661229"/>
            </c:manualLayout>
          </c:layout>
          <c:overlay val="0"/>
          <c:spPr>
            <a:noFill/>
            <a:ln>
              <a:noFill/>
            </a:ln>
            <a:effectLst/>
          </c:spPr>
          <c:txPr>
            <a:bodyPr rot="0" spcFirstLastPara="1" vertOverflow="ellipsis" vert="horz" wrap="square" anchor="ctr" anchorCtr="1"/>
            <a:lstStyle/>
            <a:p>
              <a:pPr>
                <a:defRPr sz="7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out"/>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957189775"/>
        <c:crosses val="autoZero"/>
        <c:auto val="1"/>
        <c:lblAlgn val="ctr"/>
        <c:lblOffset val="100"/>
        <c:noMultiLvlLbl val="0"/>
      </c:catAx>
      <c:valAx>
        <c:axId val="957189775"/>
        <c:scaling>
          <c:orientation val="minMax"/>
        </c:scaling>
        <c:delete val="0"/>
        <c:axPos val="l"/>
        <c:majorGridlines>
          <c:spPr>
            <a:ln w="9525" cap="flat" cmpd="sng" algn="ctr">
              <a:solidFill>
                <a:schemeClr val="tx2">
                  <a:alpha val="33000"/>
                </a:schemeClr>
              </a:solidFill>
              <a:round/>
            </a:ln>
            <a:effectLst/>
          </c:spPr>
        </c:majorGridlines>
        <c:title>
          <c:tx>
            <c:rich>
              <a:bodyPr rot="-5400000" spcFirstLastPara="1" vertOverflow="ellipsis" vert="horz" wrap="square" anchor="ctr" anchorCtr="1"/>
              <a:lstStyle/>
              <a:p>
                <a:pPr>
                  <a:defRPr sz="700" b="1" i="0" u="none" strike="noStrike" kern="1200" cap="all" baseline="0">
                    <a:solidFill>
                      <a:schemeClr val="tx1"/>
                    </a:solidFill>
                    <a:latin typeface="+mn-lt"/>
                    <a:ea typeface="+mn-ea"/>
                    <a:cs typeface="+mn-cs"/>
                  </a:defRPr>
                </a:pPr>
                <a:r>
                  <a:rPr lang="en-IN" sz="1000" b="1" dirty="0">
                    <a:solidFill>
                      <a:schemeClr val="tx1"/>
                    </a:solidFill>
                  </a:rPr>
                  <a:t>Total tickets</a:t>
                </a:r>
              </a:p>
            </c:rich>
          </c:tx>
          <c:layout>
            <c:manualLayout>
              <c:xMode val="edge"/>
              <c:yMode val="edge"/>
              <c:x val="6.1310100032268472E-2"/>
              <c:y val="0.322235301290138"/>
            </c:manualLayout>
          </c:layout>
          <c:overlay val="0"/>
          <c:spPr>
            <a:noFill/>
            <a:ln>
              <a:noFill/>
            </a:ln>
            <a:effectLst/>
          </c:spPr>
          <c:txPr>
            <a:bodyPr rot="-5400000" spcFirstLastPara="1" vertOverflow="ellipsis" vert="horz" wrap="square" anchor="ctr" anchorCtr="1"/>
            <a:lstStyle/>
            <a:p>
              <a:pPr>
                <a:defRPr sz="700" b="1" i="0" u="none" strike="noStrike" kern="1200" cap="all" baseline="0">
                  <a:solidFill>
                    <a:schemeClr val="tx1"/>
                  </a:solidFill>
                  <a:latin typeface="+mn-lt"/>
                  <a:ea typeface="+mn-ea"/>
                  <a:cs typeface="+mn-cs"/>
                </a:defRPr>
              </a:pPr>
              <a:endParaRPr lang="en-US"/>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9571979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[Chandan_IT_Tickets_Analysis.xlsx]Pivots!Pivots_Average resolution time by request category quarter-wise</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dLbl>
          <c:idx val="0"/>
          <c:showLegendKey val="0"/>
          <c:showVal val="0"/>
          <c:showCatName val="0"/>
          <c:showSerName val="0"/>
          <c:showPercent val="0"/>
          <c:showBubbleSize val="0"/>
          <c:extLst>
            <c:ext xmlns:c15="http://schemas.microsoft.com/office/drawing/2012/chart" uri="{CE6537A1-D6FC-4f65-9D91-7224C49458BB}"/>
          </c:extLst>
        </c:dLbl>
      </c:pivotFmt>
      <c:pivotFmt>
        <c:idx val="3"/>
        <c:dLbl>
          <c:idx val="0"/>
          <c:showLegendKey val="0"/>
          <c:showVal val="0"/>
          <c:showCatName val="0"/>
          <c:showSerName val="0"/>
          <c:showPercent val="0"/>
          <c:showBubbleSize val="0"/>
          <c:extLst>
            <c:ext xmlns:c15="http://schemas.microsoft.com/office/drawing/2012/chart" uri="{CE6537A1-D6FC-4f65-9D91-7224C49458BB}"/>
          </c:extLst>
        </c:dLbl>
      </c:pivotFmt>
      <c:pivotFmt>
        <c:idx val="4"/>
        <c:dLbl>
          <c:idx val="0"/>
          <c:showLegendKey val="0"/>
          <c:showVal val="0"/>
          <c:showCatName val="0"/>
          <c:showSerName val="0"/>
          <c:showPercent val="0"/>
          <c:showBubbleSize val="0"/>
          <c:extLst>
            <c:ext xmlns:c15="http://schemas.microsoft.com/office/drawing/2012/chart" uri="{CE6537A1-D6FC-4f65-9D91-7224C49458BB}"/>
          </c:extLst>
        </c:dLbl>
      </c:pivotFmt>
      <c:pivotFmt>
        <c:idx val="5"/>
        <c:dLbl>
          <c:idx val="0"/>
          <c:showLegendKey val="0"/>
          <c:showVal val="0"/>
          <c:showCatName val="0"/>
          <c:showSerName val="0"/>
          <c:showPercent val="0"/>
          <c:showBubbleSize val="0"/>
          <c:extLst>
            <c:ext xmlns:c15="http://schemas.microsoft.com/office/drawing/2012/chart" uri="{CE6537A1-D6FC-4f65-9D91-7224C49458BB}"/>
          </c:extLst>
        </c:dLbl>
      </c:pivotFmt>
      <c:pivotFmt>
        <c:idx val="6"/>
        <c:dLbl>
          <c:idx val="0"/>
          <c:showLegendKey val="0"/>
          <c:showVal val="0"/>
          <c:showCatName val="0"/>
          <c:showSerName val="0"/>
          <c:showPercent val="0"/>
          <c:showBubbleSize val="0"/>
          <c:extLst>
            <c:ext xmlns:c15="http://schemas.microsoft.com/office/drawing/2012/chart" uri="{CE6537A1-D6FC-4f65-9D91-7224C49458BB}"/>
          </c:extLst>
        </c:dLbl>
      </c:pivotFmt>
      <c:pivotFmt>
        <c:idx val="7"/>
        <c:dLbl>
          <c:idx val="0"/>
          <c:showLegendKey val="0"/>
          <c:showVal val="0"/>
          <c:showCatName val="0"/>
          <c:showSerName val="0"/>
          <c:showPercent val="0"/>
          <c:showBubbleSize val="0"/>
          <c:extLst>
            <c:ext xmlns:c15="http://schemas.microsoft.com/office/drawing/2012/chart" uri="{CE6537A1-D6FC-4f65-9D91-7224C49458BB}"/>
          </c:extLst>
        </c:dLbl>
      </c:pivotFmt>
      <c:pivotFmt>
        <c:idx val="8"/>
        <c:dLbl>
          <c:idx val="0"/>
          <c:showLegendKey val="0"/>
          <c:showVal val="1"/>
          <c:showCatName val="0"/>
          <c:showSerName val="0"/>
          <c:showPercent val="0"/>
          <c:showBubbleSize val="0"/>
          <c:extLst>
            <c:ext xmlns:c15="http://schemas.microsoft.com/office/drawing/2012/chart" uri="{CE6537A1-D6FC-4f65-9D91-7224C49458BB}"/>
          </c:extLst>
        </c:dLbl>
      </c:pivotFmt>
      <c:pivotFmt>
        <c:idx val="9"/>
        <c:dLbl>
          <c:idx val="0"/>
          <c:showLegendKey val="0"/>
          <c:showVal val="1"/>
          <c:showCatName val="0"/>
          <c:showSerName val="0"/>
          <c:showPercent val="0"/>
          <c:showBubbleSize val="0"/>
          <c:extLst>
            <c:ext xmlns:c15="http://schemas.microsoft.com/office/drawing/2012/chart" uri="{CE6537A1-D6FC-4f65-9D91-7224C49458BB}"/>
          </c:extLst>
        </c:dLbl>
      </c:pivotFmt>
      <c:pivotFmt>
        <c:idx val="10"/>
        <c:dLbl>
          <c:idx val="0"/>
          <c:showLegendKey val="0"/>
          <c:showVal val="1"/>
          <c:showCatName val="0"/>
          <c:showSerName val="0"/>
          <c:showPercent val="0"/>
          <c:showBubbleSize val="0"/>
          <c:extLst>
            <c:ext xmlns:c15="http://schemas.microsoft.com/office/drawing/2012/chart" uri="{CE6537A1-D6FC-4f65-9D91-7224C49458BB}"/>
          </c:extLst>
        </c:dLbl>
      </c:pivotFmt>
      <c:pivotFmt>
        <c:idx val="11"/>
        <c:dLbl>
          <c:idx val="0"/>
          <c:showLegendKey val="0"/>
          <c:showVal val="1"/>
          <c:showCatName val="0"/>
          <c:showSerName val="0"/>
          <c:showPercent val="0"/>
          <c:showBubbleSize val="0"/>
          <c:extLst>
            <c:ext xmlns:c15="http://schemas.microsoft.com/office/drawing/2012/chart" uri="{CE6537A1-D6FC-4f65-9D91-7224C49458BB}"/>
          </c:extLst>
        </c:dLbl>
      </c:pivotFmt>
      <c:pivotFmt>
        <c:idx val="12"/>
        <c:dLbl>
          <c:idx val="0"/>
          <c:showLegendKey val="0"/>
          <c:showVal val="1"/>
          <c:showCatName val="0"/>
          <c:showSerName val="0"/>
          <c:showPercent val="0"/>
          <c:showBubbleSize val="0"/>
          <c:extLst>
            <c:ext xmlns:c15="http://schemas.microsoft.com/office/drawing/2012/chart" uri="{CE6537A1-D6FC-4f65-9D91-7224C49458BB}"/>
          </c:extLst>
        </c:dLbl>
      </c:pivotFmt>
      <c:pivotFmt>
        <c:idx val="13"/>
        <c:dLbl>
          <c:idx val="0"/>
          <c:showLegendKey val="0"/>
          <c:showVal val="1"/>
          <c:showCatName val="0"/>
          <c:showSerName val="0"/>
          <c:showPercent val="0"/>
          <c:showBubbleSize val="0"/>
          <c:extLst>
            <c:ext xmlns:c15="http://schemas.microsoft.com/office/drawing/2012/chart" uri="{CE6537A1-D6FC-4f65-9D91-7224C49458BB}"/>
          </c:extLst>
        </c:dLbl>
      </c:pivotFmt>
      <c:pivotFmt>
        <c:idx val="14"/>
        <c:dLbl>
          <c:idx val="0"/>
          <c:showLegendKey val="0"/>
          <c:showVal val="1"/>
          <c:showCatName val="0"/>
          <c:showSerName val="0"/>
          <c:showPercent val="0"/>
          <c:showBubbleSize val="0"/>
          <c:extLst>
            <c:ext xmlns:c15="http://schemas.microsoft.com/office/drawing/2012/chart" uri="{CE6537A1-D6FC-4f65-9D91-7224C49458BB}"/>
          </c:extLst>
        </c:dLbl>
      </c:pivotFmt>
      <c:pivotFmt>
        <c:idx val="15"/>
        <c:dLbl>
          <c:idx val="0"/>
          <c:showLegendKey val="0"/>
          <c:showVal val="1"/>
          <c:showCatName val="0"/>
          <c:showSerName val="0"/>
          <c:showPercent val="0"/>
          <c:showBubbleSize val="0"/>
          <c:extLst>
            <c:ext xmlns:c15="http://schemas.microsoft.com/office/drawing/2012/chart" uri="{CE6537A1-D6FC-4f65-9D91-7224C49458BB}"/>
          </c:extLst>
        </c:dLbl>
      </c:pivotFmt>
      <c:pivotFmt>
        <c:idx val="16"/>
        <c:dLbl>
          <c:idx val="0"/>
          <c:showLegendKey val="0"/>
          <c:showVal val="1"/>
          <c:showCatName val="0"/>
          <c:showSerName val="0"/>
          <c:showPercent val="0"/>
          <c:showBubbleSize val="0"/>
          <c:extLst>
            <c:ext xmlns:c15="http://schemas.microsoft.com/office/drawing/2012/chart" uri="{CE6537A1-D6FC-4f65-9D91-7224C49458BB}"/>
          </c:extLst>
        </c:dLbl>
      </c:pivotFmt>
      <c:pivotFmt>
        <c:idx val="17"/>
        <c:dLbl>
          <c:idx val="0"/>
          <c:showLegendKey val="0"/>
          <c:showVal val="1"/>
          <c:showCatName val="0"/>
          <c:showSerName val="0"/>
          <c:showPercent val="0"/>
          <c:showBubbleSize val="0"/>
          <c:extLst>
            <c:ext xmlns:c15="http://schemas.microsoft.com/office/drawing/2012/chart" uri="{CE6537A1-D6FC-4f65-9D91-7224C49458BB}"/>
          </c:extLst>
        </c:dLbl>
      </c:pivotFmt>
      <c:pivotFmt>
        <c:idx val="18"/>
        <c:dLbl>
          <c:idx val="0"/>
          <c:showLegendKey val="0"/>
          <c:showVal val="1"/>
          <c:showCatName val="0"/>
          <c:showSerName val="0"/>
          <c:showPercent val="0"/>
          <c:showBubbleSize val="0"/>
          <c:extLst>
            <c:ext xmlns:c15="http://schemas.microsoft.com/office/drawing/2012/chart" uri="{CE6537A1-D6FC-4f65-9D91-7224C49458BB}"/>
          </c:extLst>
        </c:dLbl>
      </c:pivotFmt>
      <c:pivotFmt>
        <c:idx val="19"/>
        <c:dLbl>
          <c:idx val="0"/>
          <c:showLegendKey val="0"/>
          <c:showVal val="1"/>
          <c:showCatName val="0"/>
          <c:showSerName val="0"/>
          <c:showPercent val="0"/>
          <c:showBubbleSize val="0"/>
          <c:extLst>
            <c:ext xmlns:c15="http://schemas.microsoft.com/office/drawing/2012/chart" uri="{CE6537A1-D6FC-4f65-9D91-7224C49458BB}"/>
          </c:extLst>
        </c:dLbl>
      </c:pivotFmt>
      <c:pivotFmt>
        <c:idx val="20"/>
        <c:dLbl>
          <c:idx val="0"/>
          <c:showLegendKey val="0"/>
          <c:showVal val="1"/>
          <c:showCatName val="0"/>
          <c:showSerName val="0"/>
          <c:showPercent val="0"/>
          <c:showBubbleSize val="0"/>
          <c:extLst>
            <c:ext xmlns:c15="http://schemas.microsoft.com/office/drawing/2012/chart" uri="{CE6537A1-D6FC-4f65-9D91-7224C49458BB}"/>
          </c:extLst>
        </c:dLbl>
      </c:pivotFmt>
      <c:pivotFmt>
        <c:idx val="21"/>
        <c:dLbl>
          <c:idx val="0"/>
          <c:showLegendKey val="0"/>
          <c:showVal val="1"/>
          <c:showCatName val="0"/>
          <c:showSerName val="0"/>
          <c:showPercent val="0"/>
          <c:showBubbleSize val="0"/>
          <c:extLst>
            <c:ext xmlns:c15="http://schemas.microsoft.com/office/drawing/2012/chart" uri="{CE6537A1-D6FC-4f65-9D91-7224C49458BB}"/>
          </c:extLst>
        </c:dLbl>
      </c:pivotFmt>
      <c:pivotFmt>
        <c:idx val="22"/>
        <c:dLbl>
          <c:idx val="0"/>
          <c:showLegendKey val="0"/>
          <c:showVal val="1"/>
          <c:showCatName val="0"/>
          <c:showSerName val="0"/>
          <c:showPercent val="0"/>
          <c:showBubbleSize val="0"/>
          <c:extLst>
            <c:ext xmlns:c15="http://schemas.microsoft.com/office/drawing/2012/chart" uri="{CE6537A1-D6FC-4f65-9D91-7224C49458BB}"/>
          </c:extLst>
        </c:dLbl>
      </c:pivotFmt>
      <c:pivotFmt>
        <c:idx val="23"/>
        <c:dLbl>
          <c:idx val="0"/>
          <c:showLegendKey val="0"/>
          <c:showVal val="1"/>
          <c:showCatName val="0"/>
          <c:showSerName val="0"/>
          <c:showPercent val="0"/>
          <c:showBubbleSize val="0"/>
          <c:extLst>
            <c:ext xmlns:c15="http://schemas.microsoft.com/office/drawing/2012/chart" uri="{CE6537A1-D6FC-4f65-9D91-7224C49458BB}"/>
          </c:extLst>
        </c:dLbl>
      </c:pivotFmt>
      <c:pivotFmt>
        <c:idx val="24"/>
        <c:dLbl>
          <c:idx val="0"/>
          <c:showLegendKey val="0"/>
          <c:showVal val="1"/>
          <c:showCatName val="0"/>
          <c:showSerName val="0"/>
          <c:showPercent val="0"/>
          <c:showBubbleSize val="0"/>
          <c:extLst>
            <c:ext xmlns:c15="http://schemas.microsoft.com/office/drawing/2012/chart" uri="{CE6537A1-D6FC-4f65-9D91-7224C49458BB}"/>
          </c:extLst>
        </c:dLbl>
      </c:pivotFmt>
      <c:pivotFmt>
        <c:idx val="25"/>
        <c:dLbl>
          <c:idx val="0"/>
          <c:showLegendKey val="0"/>
          <c:showVal val="1"/>
          <c:showCatName val="0"/>
          <c:showSerName val="0"/>
          <c:showPercent val="0"/>
          <c:showBubbleSize val="0"/>
          <c:extLst>
            <c:ext xmlns:c15="http://schemas.microsoft.com/office/drawing/2012/chart" uri="{CE6537A1-D6FC-4f65-9D91-7224C49458BB}"/>
          </c:extLst>
        </c:dLbl>
      </c:pivotFmt>
      <c:pivotFmt>
        <c:idx val="26"/>
        <c:dLbl>
          <c:idx val="0"/>
          <c:showLegendKey val="0"/>
          <c:showVal val="1"/>
          <c:showCatName val="0"/>
          <c:showSerName val="0"/>
          <c:showPercent val="0"/>
          <c:showBubbleSize val="0"/>
          <c:extLst>
            <c:ext xmlns:c15="http://schemas.microsoft.com/office/drawing/2012/chart" uri="{CE6537A1-D6FC-4f65-9D91-7224C49458BB}"/>
          </c:extLst>
        </c:dLbl>
      </c:pivotFmt>
      <c:pivotFmt>
        <c:idx val="27"/>
        <c:dLbl>
          <c:idx val="0"/>
          <c:showLegendKey val="0"/>
          <c:showVal val="1"/>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540000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540000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540000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5400000" spcFirstLastPara="1" vertOverflow="ellipsis" vert="horz"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7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717163665745826"/>
          <c:y val="8.9175487551492211E-2"/>
          <c:w val="0.79087573815307133"/>
          <c:h val="0.72375209368700644"/>
        </c:manualLayout>
      </c:layout>
      <c:barChart>
        <c:barDir val="col"/>
        <c:grouping val="clustered"/>
        <c:varyColors val="0"/>
        <c:ser>
          <c:idx val="0"/>
          <c:order val="0"/>
          <c:tx>
            <c:strRef>
              <c:f>Pivots!$K$2:$K$3</c:f>
              <c:strCache>
                <c:ptCount val="1"/>
                <c:pt idx="0">
                  <c:v>Qtr1</c:v>
                </c:pt>
              </c:strCache>
            </c:strRef>
          </c:tx>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Pivots!$J$4:$J$7</c:f>
              <c:strCache>
                <c:ptCount val="4"/>
                <c:pt idx="0">
                  <c:v>Hardware</c:v>
                </c:pt>
                <c:pt idx="1">
                  <c:v>Login Access</c:v>
                </c:pt>
                <c:pt idx="2">
                  <c:v>Software</c:v>
                </c:pt>
                <c:pt idx="3">
                  <c:v>System</c:v>
                </c:pt>
              </c:strCache>
            </c:strRef>
          </c:cat>
          <c:val>
            <c:numRef>
              <c:f>Pivots!$K$4:$K$7</c:f>
              <c:numCache>
                <c:formatCode>0.0</c:formatCode>
                <c:ptCount val="4"/>
                <c:pt idx="0">
                  <c:v>7.7437185929648242</c:v>
                </c:pt>
                <c:pt idx="1">
                  <c:v>0.30982295830953743</c:v>
                </c:pt>
                <c:pt idx="2">
                  <c:v>5.2396186440677965</c:v>
                </c:pt>
                <c:pt idx="3">
                  <c:v>6.6398099146776106</c:v>
                </c:pt>
              </c:numCache>
            </c:numRef>
          </c:val>
          <c:extLst>
            <c:ext xmlns:c16="http://schemas.microsoft.com/office/drawing/2014/chart" uri="{C3380CC4-5D6E-409C-BE32-E72D297353CC}">
              <c16:uniqueId val="{00000000-3463-4D6C-AD54-7612AB6EB528}"/>
            </c:ext>
          </c:extLst>
        </c:ser>
        <c:ser>
          <c:idx val="1"/>
          <c:order val="1"/>
          <c:tx>
            <c:strRef>
              <c:f>Pivots!$L$2:$L$3</c:f>
              <c:strCache>
                <c:ptCount val="1"/>
                <c:pt idx="0">
                  <c:v>Qtr2</c:v>
                </c:pt>
              </c:strCache>
            </c:strRef>
          </c:tx>
          <c:spPr>
            <a:gradFill rotWithShape="1">
              <a:gsLst>
                <a:gs pos="0">
                  <a:schemeClr val="accent4">
                    <a:tint val="96000"/>
                    <a:satMod val="100000"/>
                    <a:lumMod val="104000"/>
                  </a:schemeClr>
                </a:gs>
                <a:gs pos="78000">
                  <a:schemeClr val="accent4">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Pivots!$J$4:$J$7</c:f>
              <c:strCache>
                <c:ptCount val="4"/>
                <c:pt idx="0">
                  <c:v>Hardware</c:v>
                </c:pt>
                <c:pt idx="1">
                  <c:v>Login Access</c:v>
                </c:pt>
                <c:pt idx="2">
                  <c:v>Software</c:v>
                </c:pt>
                <c:pt idx="3">
                  <c:v>System</c:v>
                </c:pt>
              </c:strCache>
            </c:strRef>
          </c:cat>
          <c:val>
            <c:numRef>
              <c:f>Pivots!$L$4:$L$7</c:f>
              <c:numCache>
                <c:formatCode>0.0</c:formatCode>
                <c:ptCount val="4"/>
                <c:pt idx="0">
                  <c:v>7.6847290640394093</c:v>
                </c:pt>
                <c:pt idx="1">
                  <c:v>0.32385814819925485</c:v>
                </c:pt>
                <c:pt idx="2">
                  <c:v>5.2590348861499896</c:v>
                </c:pt>
                <c:pt idx="3">
                  <c:v>6.642100935347929</c:v>
                </c:pt>
              </c:numCache>
            </c:numRef>
          </c:val>
          <c:extLst>
            <c:ext xmlns:c16="http://schemas.microsoft.com/office/drawing/2014/chart" uri="{C3380CC4-5D6E-409C-BE32-E72D297353CC}">
              <c16:uniqueId val="{00000001-3463-4D6C-AD54-7612AB6EB528}"/>
            </c:ext>
          </c:extLst>
        </c:ser>
        <c:ser>
          <c:idx val="2"/>
          <c:order val="2"/>
          <c:tx>
            <c:strRef>
              <c:f>Pivots!$M$2:$M$3</c:f>
              <c:strCache>
                <c:ptCount val="1"/>
                <c:pt idx="0">
                  <c:v>Qtr3</c:v>
                </c:pt>
              </c:strCache>
            </c:strRef>
          </c:tx>
          <c:spPr>
            <a:gradFill rotWithShape="1">
              <a:gsLst>
                <a:gs pos="0">
                  <a:schemeClr val="accent6">
                    <a:tint val="96000"/>
                    <a:satMod val="100000"/>
                    <a:lumMod val="104000"/>
                  </a:schemeClr>
                </a:gs>
                <a:gs pos="78000">
                  <a:schemeClr val="accent6">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Pivots!$J$4:$J$7</c:f>
              <c:strCache>
                <c:ptCount val="4"/>
                <c:pt idx="0">
                  <c:v>Hardware</c:v>
                </c:pt>
                <c:pt idx="1">
                  <c:v>Login Access</c:v>
                </c:pt>
                <c:pt idx="2">
                  <c:v>Software</c:v>
                </c:pt>
                <c:pt idx="3">
                  <c:v>System</c:v>
                </c:pt>
              </c:strCache>
            </c:strRef>
          </c:cat>
          <c:val>
            <c:numRef>
              <c:f>Pivots!$M$4:$M$7</c:f>
              <c:numCache>
                <c:formatCode>0.0</c:formatCode>
                <c:ptCount val="4"/>
                <c:pt idx="0">
                  <c:v>7.5285714285714285</c:v>
                </c:pt>
                <c:pt idx="1">
                  <c:v>0.31265239772419401</c:v>
                </c:pt>
                <c:pt idx="2">
                  <c:v>5.1592673700975515</c:v>
                </c:pt>
                <c:pt idx="3">
                  <c:v>6.5821828076186639</c:v>
                </c:pt>
              </c:numCache>
            </c:numRef>
          </c:val>
          <c:extLst>
            <c:ext xmlns:c16="http://schemas.microsoft.com/office/drawing/2014/chart" uri="{C3380CC4-5D6E-409C-BE32-E72D297353CC}">
              <c16:uniqueId val="{00000002-3463-4D6C-AD54-7612AB6EB528}"/>
            </c:ext>
          </c:extLst>
        </c:ser>
        <c:ser>
          <c:idx val="3"/>
          <c:order val="3"/>
          <c:tx>
            <c:strRef>
              <c:f>Pivots!$N$2:$N$3</c:f>
              <c:strCache>
                <c:ptCount val="1"/>
                <c:pt idx="0">
                  <c:v>Qtr4</c:v>
                </c:pt>
              </c:strCache>
            </c:strRef>
          </c:tx>
          <c:spPr>
            <a:gradFill rotWithShape="1">
              <a:gsLst>
                <a:gs pos="0">
                  <a:schemeClr val="accent2">
                    <a:lumMod val="60000"/>
                    <a:tint val="96000"/>
                    <a:satMod val="100000"/>
                    <a:lumMod val="104000"/>
                  </a:schemeClr>
                </a:gs>
                <a:gs pos="78000">
                  <a:schemeClr val="accent2">
                    <a:lumMod val="60000"/>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Pivots!$J$4:$J$7</c:f>
              <c:strCache>
                <c:ptCount val="4"/>
                <c:pt idx="0">
                  <c:v>Hardware</c:v>
                </c:pt>
                <c:pt idx="1">
                  <c:v>Login Access</c:v>
                </c:pt>
                <c:pt idx="2">
                  <c:v>Software</c:v>
                </c:pt>
                <c:pt idx="3">
                  <c:v>System</c:v>
                </c:pt>
              </c:strCache>
            </c:strRef>
          </c:cat>
          <c:val>
            <c:numRef>
              <c:f>Pivots!$N$4:$N$7</c:f>
              <c:numCache>
                <c:formatCode>0.0</c:formatCode>
                <c:ptCount val="4"/>
                <c:pt idx="0">
                  <c:v>7.5481903212688088</c:v>
                </c:pt>
                <c:pt idx="1">
                  <c:v>0.30899470899470899</c:v>
                </c:pt>
                <c:pt idx="2">
                  <c:v>5.2978174603174599</c:v>
                </c:pt>
                <c:pt idx="3">
                  <c:v>6.600733326726786</c:v>
                </c:pt>
              </c:numCache>
            </c:numRef>
          </c:val>
          <c:extLst>
            <c:ext xmlns:c16="http://schemas.microsoft.com/office/drawing/2014/chart" uri="{C3380CC4-5D6E-409C-BE32-E72D297353CC}">
              <c16:uniqueId val="{00000003-3463-4D6C-AD54-7612AB6EB528}"/>
            </c:ext>
          </c:extLst>
        </c:ser>
        <c:dLbls>
          <c:dLblPos val="outEnd"/>
          <c:showLegendKey val="0"/>
          <c:showVal val="1"/>
          <c:showCatName val="0"/>
          <c:showSerName val="0"/>
          <c:showPercent val="0"/>
          <c:showBubbleSize val="0"/>
        </c:dLbls>
        <c:gapWidth val="100"/>
        <c:overlap val="-24"/>
        <c:axId val="207686592"/>
        <c:axId val="207687072"/>
      </c:barChart>
      <c:catAx>
        <c:axId val="207686592"/>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dirty="0"/>
                  <a:t>REQUEST CATEGORY</a:t>
                </a:r>
              </a:p>
            </c:rich>
          </c:tx>
          <c:layout>
            <c:manualLayout>
              <c:xMode val="edge"/>
              <c:yMode val="edge"/>
              <c:x val="0.30031194636467851"/>
              <c:y val="0.9238199873474642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7687072"/>
        <c:crosses val="autoZero"/>
        <c:auto val="1"/>
        <c:lblAlgn val="ctr"/>
        <c:lblOffset val="100"/>
        <c:noMultiLvlLbl val="0"/>
      </c:catAx>
      <c:valAx>
        <c:axId val="207687072"/>
        <c:scaling>
          <c:orientation val="minMax"/>
        </c:scaling>
        <c:delete val="0"/>
        <c:axPos val="l"/>
        <c:majorGridlines>
          <c:spPr>
            <a:ln w="9525" cap="flat" cmpd="sng" algn="ctr">
              <a:solidFill>
                <a:schemeClr val="tx2">
                  <a:alpha val="42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AVERAGE RESOLUTION TIME</a:t>
                </a:r>
              </a:p>
            </c:rich>
          </c:tx>
          <c:layout>
            <c:manualLayout>
              <c:xMode val="edge"/>
              <c:yMode val="edge"/>
              <c:x val="1.6362941605585855E-2"/>
              <c:y val="0.23990685846395904"/>
            </c:manualLayout>
          </c:layout>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07686592"/>
        <c:crosses val="autoZero"/>
        <c:crossBetween val="between"/>
      </c:valAx>
      <c:spPr>
        <a:noFill/>
        <a:ln>
          <a:noFill/>
        </a:ln>
        <a:effectLst/>
      </c:spPr>
    </c:plotArea>
    <c:legend>
      <c:legendPos val="r"/>
      <c:layout>
        <c:manualLayout>
          <c:xMode val="edge"/>
          <c:yMode val="edge"/>
          <c:x val="0.25521856477929117"/>
          <c:y val="1.1930159549355567E-2"/>
          <c:w val="0.56216914016396446"/>
          <c:h val="7.9924671244913703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pivotSource>
    <c:name>[Chandan_IT_Tickets_Analysis.xlsx]Pivots!Pivots_Satisfaction rate by time</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540000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731067399511559"/>
          <c:y val="3.8574994953772132E-2"/>
          <c:w val="0.80154601886209886"/>
          <c:h val="0.8165056245766622"/>
        </c:manualLayout>
      </c:layout>
      <c:barChart>
        <c:barDir val="col"/>
        <c:grouping val="clustered"/>
        <c:varyColors val="0"/>
        <c:ser>
          <c:idx val="0"/>
          <c:order val="0"/>
          <c:tx>
            <c:strRef>
              <c:f>Pivots!$H$2</c:f>
              <c:strCache>
                <c:ptCount val="1"/>
                <c:pt idx="0">
                  <c:v>Total</c:v>
                </c:pt>
              </c:strCache>
            </c:strRef>
          </c:tx>
          <c:spPr>
            <a:gradFill rotWithShape="1">
              <a:gsLst>
                <a:gs pos="0">
                  <a:schemeClr val="accent6">
                    <a:tint val="96000"/>
                    <a:satMod val="100000"/>
                    <a:lumMod val="104000"/>
                  </a:schemeClr>
                </a:gs>
                <a:gs pos="78000">
                  <a:schemeClr val="accent6">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Pivots!$G$3:$G$7</c:f>
              <c:strCache>
                <c:ptCount val="5"/>
                <c:pt idx="0">
                  <c:v>2016</c:v>
                </c:pt>
                <c:pt idx="1">
                  <c:v>2017</c:v>
                </c:pt>
                <c:pt idx="2">
                  <c:v>2018</c:v>
                </c:pt>
                <c:pt idx="3">
                  <c:v>2019</c:v>
                </c:pt>
                <c:pt idx="4">
                  <c:v>2020</c:v>
                </c:pt>
              </c:strCache>
            </c:strRef>
          </c:cat>
          <c:val>
            <c:numRef>
              <c:f>Pivots!$H$3:$H$7</c:f>
              <c:numCache>
                <c:formatCode>0.0</c:formatCode>
                <c:ptCount val="5"/>
                <c:pt idx="0">
                  <c:v>3.9796950425254769</c:v>
                </c:pt>
                <c:pt idx="1">
                  <c:v>4.068119342943346</c:v>
                </c:pt>
                <c:pt idx="2">
                  <c:v>4.0918539622243326</c:v>
                </c:pt>
                <c:pt idx="3">
                  <c:v>4.1223825034899955</c:v>
                </c:pt>
                <c:pt idx="4">
                  <c:v>4.1612692519251926</c:v>
                </c:pt>
              </c:numCache>
            </c:numRef>
          </c:val>
          <c:extLst>
            <c:ext xmlns:c16="http://schemas.microsoft.com/office/drawing/2014/chart" uri="{C3380CC4-5D6E-409C-BE32-E72D297353CC}">
              <c16:uniqueId val="{00000000-BB79-424A-A7A5-8F29E837BE4C}"/>
            </c:ext>
          </c:extLst>
        </c:ser>
        <c:dLbls>
          <c:dLblPos val="outEnd"/>
          <c:showLegendKey val="0"/>
          <c:showVal val="1"/>
          <c:showCatName val="0"/>
          <c:showSerName val="0"/>
          <c:showPercent val="0"/>
          <c:showBubbleSize val="0"/>
        </c:dLbls>
        <c:gapWidth val="100"/>
        <c:overlap val="-24"/>
        <c:axId val="293939696"/>
        <c:axId val="293940176"/>
      </c:barChart>
      <c:catAx>
        <c:axId val="293939696"/>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TIME (YEAR)</a:t>
                </a:r>
              </a:p>
            </c:rich>
          </c:tx>
          <c:layout>
            <c:manualLayout>
              <c:xMode val="edge"/>
              <c:yMode val="edge"/>
              <c:x val="0.48173167488349128"/>
              <c:y val="0.9356672908065873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3940176"/>
        <c:crosses val="autoZero"/>
        <c:auto val="1"/>
        <c:lblAlgn val="ctr"/>
        <c:lblOffset val="100"/>
        <c:noMultiLvlLbl val="0"/>
      </c:catAx>
      <c:valAx>
        <c:axId val="293940176"/>
        <c:scaling>
          <c:orientation val="minMax"/>
        </c:scaling>
        <c:delete val="0"/>
        <c:axPos val="l"/>
        <c:majorGridlines>
          <c:spPr>
            <a:ln w="9525" cap="flat" cmpd="sng" algn="ctr">
              <a:solidFill>
                <a:schemeClr val="tx2">
                  <a:alpha val="67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dirty="0"/>
                  <a:t>AVERAGE SATISFACTION RATE</a:t>
                </a:r>
              </a:p>
            </c:rich>
          </c:tx>
          <c:layout>
            <c:manualLayout>
              <c:xMode val="edge"/>
              <c:yMode val="edge"/>
              <c:x val="1.6552991851628302E-2"/>
              <c:y val="0.22851088735859237"/>
            </c:manualLayout>
          </c:layout>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939396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pivotSource>
    <c:name>[Chandan_IT_Tickets_Analysis.xlsx]Pivots!Pivots_ Age group by satisfaction rate</c:name>
    <c:fmtId val="-1"/>
  </c:pivotSource>
  <c:chart>
    <c:autoTitleDeleted val="1"/>
    <c:pivotFmts>
      <c:pivotFmt>
        <c:idx val="0"/>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circle"/>
          <c:size val="6"/>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innerShdw blurRad="63500" dist="50800" dir="13500000">
              <a:prstClr val="black">
                <a:alpha val="50000"/>
              </a:prstClr>
            </a:innerShdw>
          </a:effectLst>
          <a:scene3d>
            <a:camera prst="orthographicFront">
              <a:rot lat="0" lon="0" rev="0"/>
            </a:camera>
            <a:lightRig rig="threePt" dir="t"/>
          </a:scene3d>
          <a:sp3d>
            <a:bevelT w="50800" h="2540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224661200531568"/>
          <c:y val="5.1425899953249185E-2"/>
          <c:w val="0.79600579864154475"/>
          <c:h val="0.76633941093969138"/>
        </c:manualLayout>
      </c:layout>
      <c:barChart>
        <c:barDir val="col"/>
        <c:grouping val="clustered"/>
        <c:varyColors val="0"/>
        <c:ser>
          <c:idx val="0"/>
          <c:order val="0"/>
          <c:tx>
            <c:strRef>
              <c:f>Pivots!$B$10</c:f>
              <c:strCache>
                <c:ptCount val="1"/>
                <c:pt idx="0">
                  <c:v>Total</c:v>
                </c:pt>
              </c:strCache>
            </c:strRef>
          </c:tx>
          <c:spPr>
            <a:gradFill rotWithShape="1">
              <a:gsLst>
                <a:gs pos="0">
                  <a:schemeClr val="accent2">
                    <a:tint val="96000"/>
                    <a:satMod val="100000"/>
                    <a:lumMod val="104000"/>
                  </a:schemeClr>
                </a:gs>
                <a:gs pos="78000">
                  <a:schemeClr val="accent2">
                    <a:shade val="100000"/>
                    <a:satMod val="110000"/>
                    <a:lumMod val="100000"/>
                  </a:schemeClr>
                </a:gs>
              </a:gsLst>
              <a:lin ang="5400000" scaled="0"/>
            </a:gradFill>
            <a:ln>
              <a:noFill/>
            </a:ln>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Pivots!$A$11:$A$17</c:f>
              <c:strCache>
                <c:ptCount val="7"/>
                <c:pt idx="0">
                  <c:v>28-31</c:v>
                </c:pt>
                <c:pt idx="1">
                  <c:v>32-35</c:v>
                </c:pt>
                <c:pt idx="2">
                  <c:v>36-39</c:v>
                </c:pt>
                <c:pt idx="3">
                  <c:v>40-43</c:v>
                </c:pt>
                <c:pt idx="4">
                  <c:v>44-47</c:v>
                </c:pt>
                <c:pt idx="5">
                  <c:v>48-51</c:v>
                </c:pt>
                <c:pt idx="6">
                  <c:v>52-55</c:v>
                </c:pt>
              </c:strCache>
            </c:strRef>
          </c:cat>
          <c:val>
            <c:numRef>
              <c:f>Pivots!$B$11:$B$17</c:f>
              <c:numCache>
                <c:formatCode>0.0</c:formatCode>
                <c:ptCount val="7"/>
                <c:pt idx="0">
                  <c:v>4.2099816888813182</c:v>
                </c:pt>
                <c:pt idx="1">
                  <c:v>4.018618387262455</c:v>
                </c:pt>
                <c:pt idx="2">
                  <c:v>4.1393617805291472</c:v>
                </c:pt>
                <c:pt idx="3">
                  <c:v>3.9432117122269243</c:v>
                </c:pt>
                <c:pt idx="4">
                  <c:v>4.0380193162655216</c:v>
                </c:pt>
                <c:pt idx="5">
                  <c:v>4.0669550885867327</c:v>
                </c:pt>
                <c:pt idx="6">
                  <c:v>4.4147582697201022</c:v>
                </c:pt>
              </c:numCache>
            </c:numRef>
          </c:val>
          <c:extLst>
            <c:ext xmlns:c16="http://schemas.microsoft.com/office/drawing/2014/chart" uri="{C3380CC4-5D6E-409C-BE32-E72D297353CC}">
              <c16:uniqueId val="{00000000-F13C-4C4E-AE2A-3142116B080C}"/>
            </c:ext>
          </c:extLst>
        </c:ser>
        <c:dLbls>
          <c:dLblPos val="outEnd"/>
          <c:showLegendKey val="0"/>
          <c:showVal val="1"/>
          <c:showCatName val="0"/>
          <c:showSerName val="0"/>
          <c:showPercent val="0"/>
          <c:showBubbleSize val="0"/>
        </c:dLbls>
        <c:gapWidth val="100"/>
        <c:overlap val="-24"/>
        <c:axId val="286722976"/>
        <c:axId val="286721056"/>
      </c:barChart>
      <c:catAx>
        <c:axId val="286722976"/>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AGE-GROUPS</a:t>
                </a:r>
              </a:p>
            </c:rich>
          </c:tx>
          <c:layout>
            <c:manualLayout>
              <c:xMode val="edge"/>
              <c:yMode val="edge"/>
              <c:x val="0.41096392703465706"/>
              <c:y val="0.9111734455352968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6721056"/>
        <c:crosses val="autoZero"/>
        <c:auto val="1"/>
        <c:lblAlgn val="ctr"/>
        <c:lblOffset val="100"/>
        <c:noMultiLvlLbl val="0"/>
      </c:catAx>
      <c:valAx>
        <c:axId val="28672105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r>
                  <a:rPr lang="en-IN"/>
                  <a:t>AVERAGE SATISFACTION RATE</a:t>
                </a:r>
              </a:p>
            </c:rich>
          </c:tx>
          <c:layout>
            <c:manualLayout>
              <c:xMode val="edge"/>
              <c:yMode val="edge"/>
              <c:x val="1.06454858663342E-2"/>
              <c:y val="0.13334474495035947"/>
            </c:manualLayout>
          </c:layout>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title>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286722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[Chandan_IT_Tickets_Analysis.xlsx]Pivots!Pivots_Distribution of tickets based on Resolution time</c:name>
    <c:fmtId val="-1"/>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25400" h="12700"/>
          </a:sp3d>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a:scene3d>
              <a:camera prst="orthographicFront">
                <a:rot lat="0" lon="0" rev="0"/>
              </a:camera>
              <a:lightRig rig="threePt" dir="t"/>
            </a:scene3d>
            <a:sp3d>
              <a:bevelT w="25400" h="12700"/>
            </a:sp3d>
          </c:spPr>
        </c:marker>
        <c:dLbl>
          <c:idx val="0"/>
          <c:spPr>
            <a:noFill/>
            <a:ln>
              <a:noFill/>
            </a:ln>
            <a:effectLst/>
          </c:spPr>
          <c:txPr>
            <a:bodyPr rot="-5400000" spcFirstLastPara="1" vertOverflow="ellipsis" vert="horz"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25400" h="127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scene3d>
          <a:sp3d>
            <a:bevelT w="25400" h="12700"/>
          </a:sp3d>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800"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162303086576046"/>
          <c:y val="2.7056802223085426E-2"/>
          <c:w val="0.82670942239157841"/>
          <c:h val="0.84854334120178088"/>
        </c:manualLayout>
      </c:layout>
      <c:barChart>
        <c:barDir val="col"/>
        <c:grouping val="clustered"/>
        <c:varyColors val="0"/>
        <c:ser>
          <c:idx val="0"/>
          <c:order val="0"/>
          <c:tx>
            <c:strRef>
              <c:f>Pivots!$K$10</c:f>
              <c:strCache>
                <c:ptCount val="1"/>
                <c:pt idx="0">
                  <c:v>Total</c:v>
                </c:pt>
              </c:strCache>
            </c:strRef>
          </c:tx>
          <c:spPr>
            <a:gradFill rotWithShape="1">
              <a:gsLst>
                <a:gs pos="0">
                  <a:schemeClr val="accent6">
                    <a:tint val="96000"/>
                    <a:satMod val="100000"/>
                    <a:lumMod val="104000"/>
                  </a:schemeClr>
                </a:gs>
                <a:gs pos="78000">
                  <a:schemeClr val="accent6">
                    <a:shade val="100000"/>
                    <a:satMod val="110000"/>
                    <a:lumMod val="100000"/>
                  </a:schemeClr>
                </a:gs>
              </a:gsLst>
              <a:lin ang="5400000" scaled="0"/>
            </a:gradFill>
            <a:ln>
              <a:noFill/>
            </a:ln>
            <a:effectLst/>
            <a:scene3d>
              <a:camera prst="orthographicFront">
                <a:rot lat="0" lon="0" rev="0"/>
              </a:camera>
              <a:lightRig rig="threePt" dir="t"/>
            </a:scene3d>
            <a:sp3d>
              <a:bevelT w="25400" h="12700"/>
            </a:sp3d>
          </c:spPr>
          <c:invertIfNegative val="0"/>
          <c:dLbls>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2"/>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Pivots!$J$11:$J$32</c:f>
              <c:strCache>
                <c:ptCount val="22"/>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strCache>
            </c:strRef>
          </c:cat>
          <c:val>
            <c:numRef>
              <c:f>Pivots!$K$11:$K$32</c:f>
              <c:numCache>
                <c:formatCode>General</c:formatCode>
                <c:ptCount val="22"/>
                <c:pt idx="0">
                  <c:v>25071</c:v>
                </c:pt>
                <c:pt idx="1">
                  <c:v>9277</c:v>
                </c:pt>
                <c:pt idx="2">
                  <c:v>6466</c:v>
                </c:pt>
                <c:pt idx="3">
                  <c:v>6200</c:v>
                </c:pt>
                <c:pt idx="4">
                  <c:v>4919</c:v>
                </c:pt>
                <c:pt idx="5">
                  <c:v>8789</c:v>
                </c:pt>
                <c:pt idx="6">
                  <c:v>7802</c:v>
                </c:pt>
                <c:pt idx="7">
                  <c:v>6582</c:v>
                </c:pt>
                <c:pt idx="8">
                  <c:v>4850</c:v>
                </c:pt>
                <c:pt idx="9">
                  <c:v>3739</c:v>
                </c:pt>
                <c:pt idx="10">
                  <c:v>3899</c:v>
                </c:pt>
                <c:pt idx="11">
                  <c:v>1732</c:v>
                </c:pt>
                <c:pt idx="12">
                  <c:v>1555</c:v>
                </c:pt>
                <c:pt idx="13">
                  <c:v>1712</c:v>
                </c:pt>
                <c:pt idx="14">
                  <c:v>1566</c:v>
                </c:pt>
                <c:pt idx="15">
                  <c:v>1360</c:v>
                </c:pt>
                <c:pt idx="16">
                  <c:v>1167</c:v>
                </c:pt>
                <c:pt idx="17">
                  <c:v>554</c:v>
                </c:pt>
                <c:pt idx="18">
                  <c:v>124</c:v>
                </c:pt>
                <c:pt idx="19">
                  <c:v>130</c:v>
                </c:pt>
                <c:pt idx="20">
                  <c:v>2</c:v>
                </c:pt>
                <c:pt idx="21">
                  <c:v>2</c:v>
                </c:pt>
              </c:numCache>
            </c:numRef>
          </c:val>
          <c:extLst>
            <c:ext xmlns:c16="http://schemas.microsoft.com/office/drawing/2014/chart" uri="{C3380CC4-5D6E-409C-BE32-E72D297353CC}">
              <c16:uniqueId val="{00000000-40CA-40EF-B879-C925D0128A79}"/>
            </c:ext>
          </c:extLst>
        </c:ser>
        <c:dLbls>
          <c:showLegendKey val="0"/>
          <c:showVal val="0"/>
          <c:showCatName val="0"/>
          <c:showSerName val="0"/>
          <c:showPercent val="0"/>
          <c:showBubbleSize val="0"/>
        </c:dLbls>
        <c:gapWidth val="100"/>
        <c:overlap val="-24"/>
        <c:axId val="122039295"/>
        <c:axId val="122039775"/>
      </c:barChart>
      <c:catAx>
        <c:axId val="122039295"/>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a:t>RESOLUTION TIME (DAYS)</a:t>
                </a:r>
              </a:p>
            </c:rich>
          </c:tx>
          <c:layout>
            <c:manualLayout>
              <c:xMode val="edge"/>
              <c:yMode val="edge"/>
              <c:x val="0.40992412069480977"/>
              <c:y val="0.93585888955702534"/>
            </c:manualLayout>
          </c:layout>
          <c:overlay val="0"/>
          <c:spPr>
            <a:noFill/>
            <a:ln>
              <a:noFill/>
            </a:ln>
            <a:effectLst/>
          </c:spPr>
          <c:txPr>
            <a:bodyPr rot="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2039775"/>
        <c:crosses val="autoZero"/>
        <c:auto val="1"/>
        <c:lblAlgn val="ctr"/>
        <c:lblOffset val="100"/>
        <c:noMultiLvlLbl val="0"/>
      </c:catAx>
      <c:valAx>
        <c:axId val="122039775"/>
        <c:scaling>
          <c:orientation val="minMax"/>
        </c:scaling>
        <c:delete val="0"/>
        <c:axPos val="l"/>
        <c:majorGridlines>
          <c:spPr>
            <a:ln w="9525" cap="flat" cmpd="sng" algn="ctr">
              <a:solidFill>
                <a:schemeClr val="tx2">
                  <a:alpha val="4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r>
                  <a:rPr lang="en-IN" dirty="0"/>
                  <a:t>TOTAL TICKETS</a:t>
                </a:r>
              </a:p>
            </c:rich>
          </c:tx>
          <c:layout>
            <c:manualLayout>
              <c:xMode val="edge"/>
              <c:yMode val="edge"/>
              <c:x val="3.3649012556547305E-3"/>
              <c:y val="0.30520781665521257"/>
            </c:manualLayout>
          </c:layout>
          <c:overlay val="0"/>
          <c:spPr>
            <a:noFill/>
            <a:ln>
              <a:solidFill>
                <a:schemeClr val="bg1"/>
              </a:solidFill>
            </a:ln>
            <a:effectLst/>
          </c:spPr>
          <c:txPr>
            <a:bodyPr rot="-5400000" spcFirstLastPara="1" vertOverflow="ellipsis" vert="horz" wrap="square" anchor="ctr" anchorCtr="1"/>
            <a:lstStyle/>
            <a:p>
              <a:pPr>
                <a:defRPr sz="1197" b="1" i="0" u="none" strike="noStrike" kern="1200" baseline="0">
                  <a:solidFill>
                    <a:schemeClr val="tx2"/>
                  </a:solidFill>
                  <a:latin typeface="+mn-lt"/>
                  <a:ea typeface="+mn-ea"/>
                  <a:cs typeface="+mn-cs"/>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122039295"/>
        <c:crosses val="autoZero"/>
        <c:crossBetween val="between"/>
      </c:valAx>
      <c:spPr>
        <a:solidFill>
          <a:schemeClr val="bg1"/>
        </a:solidFill>
        <a:ln>
          <a:solidFill>
            <a:schemeClr val="tx2"/>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9">
  <a:schemeClr val="accent6"/>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9">
  <a:schemeClr val="accent6"/>
</cs:colorStyle>
</file>

<file path=ppt/charts/colors8.xml><?xml version="1.0" encoding="utf-8"?>
<cs:colorStyle xmlns:cs="http://schemas.microsoft.com/office/drawing/2012/chartStyle" xmlns:a="http://schemas.openxmlformats.org/drawingml/2006/main" meth="withinLinear" id="15">
  <a:schemeClr val="accent2"/>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9">
  <cs:axisTitle>
    <cs:lnRef idx="0"/>
    <cs:fillRef idx="0"/>
    <cs:effectRef idx="0"/>
    <cs:fontRef idx="minor">
      <a:schemeClr val="lt1"/>
    </cs:fontRef>
    <cs:defRPr sz="900" b="1" kern="1200"/>
  </cs:axisTitle>
  <cs:categoryAxis>
    <cs:lnRef idx="0">
      <cs:styleClr val="0"/>
    </cs:lnRef>
    <cs:fillRef idx="0"/>
    <cs:effectRef idx="0"/>
    <cs:fontRef idx="minor">
      <a:schemeClr val="lt1"/>
    </cs:fontRef>
    <cs:spPr>
      <a:ln w="12700" cap="flat" cmpd="sng" algn="ctr">
        <a:solidFill>
          <a:schemeClr val="lt1"/>
        </a:solidFill>
        <a:round/>
      </a:ln>
    </cs:spPr>
    <cs:defRPr sz="900" kern="1200" spc="100" baseline="0"/>
  </cs:categoryAxis>
  <cs:chartArea>
    <cs:lnRef idx="0">
      <cs:styleClr val="0"/>
    </cs:lnRef>
    <cs:fillRef idx="0">
      <cs:styleClr val="0"/>
    </cs:fillRef>
    <cs:effectRef idx="0"/>
    <cs:fontRef idx="minor">
      <a:schemeClr val="dk1"/>
    </cs:fontRef>
    <cs:spPr>
      <a:solidFill>
        <a:schemeClr val="phClr"/>
      </a:solidFill>
      <a:ln w="9525" cap="flat" cmpd="sng" algn="ctr">
        <a:solidFill>
          <a:schemeClr val="phClr"/>
        </a:solidFill>
        <a:round/>
      </a:ln>
    </cs:spPr>
    <cs:defRPr sz="1000" kern="1200"/>
  </cs:chartArea>
  <cs:dataLabel>
    <cs:lnRef idx="0"/>
    <cs:fillRef idx="0"/>
    <cs:effectRef idx="0"/>
    <cs:fontRef idx="minor">
      <a:schemeClr val="lt1"/>
    </cs:fontRef>
    <cs:defRPr sz="900" b="1" kern="1200"/>
  </cs:dataLabel>
  <cs:dataLabelCallout>
    <cs:lnRef idx="0">
      <cs:styleClr val="auto"/>
    </cs:lnRef>
    <cs:fillRef idx="0"/>
    <cs:effectRef idx="0"/>
    <cs:fontRef idx="minor">
      <cs:styleClr val="auto"/>
    </cs:fontRef>
    <cs:spPr>
      <a:solidFill>
        <a:schemeClr val="lt1"/>
      </a:solidFill>
      <a:ln>
        <a:solidFill>
          <a:schemeClr val="ph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pattFill prst="ltUpDiag">
        <a:fgClr>
          <a:schemeClr val="phClr"/>
        </a:fgClr>
        <a:bgClr>
          <a:schemeClr val="lt1"/>
        </a:bgClr>
      </a:pattFill>
    </cs:spPr>
  </cs:dataPoint>
  <cs:dataPoint3D>
    <cs:lnRef idx="0"/>
    <cs:fillRef idx="0">
      <cs:styleClr val="auto"/>
    </cs:fillRef>
    <cs:effectRef idx="0"/>
    <cs:fontRef idx="minor">
      <a:schemeClr val="dk1"/>
    </cs:fontRef>
    <cs:spPr>
      <a:pattFill prst="ltUpDiag">
        <a:fgClr>
          <a:schemeClr val="phClr"/>
        </a:fgClr>
        <a:bgClr>
          <a:schemeClr val="lt1"/>
        </a:bgClr>
      </a:pattFill>
    </cs:spPr>
  </cs:dataPoint3D>
  <cs:dataPointLine>
    <cs:lnRef idx="0">
      <cs:styleClr val="auto"/>
    </cs:lnRef>
    <cs:fillRef idx="0"/>
    <cs:effectRef idx="0">
      <cs:styleClr val="auto"/>
    </cs:effectRef>
    <cs:fontRef idx="minor">
      <a:schemeClr val="dk1"/>
    </cs:fontRef>
    <cs:spPr>
      <a:ln w="34925" cap="rnd">
        <a:solidFill>
          <a:schemeClr val="lt1"/>
        </a:solidFill>
        <a:round/>
      </a:ln>
      <a:effectLst>
        <a:outerShdw dist="25400" dir="2700000" algn="tl" rotWithShape="0">
          <a:schemeClr val="phClr"/>
        </a:outerShdw>
      </a:effectLst>
    </cs:spPr>
  </cs:dataPointLine>
  <cs:dataPointMarker>
    <cs:lnRef idx="0"/>
    <cs:fillRef idx="0">
      <cs:styleClr val="auto"/>
    </cs:fillRef>
    <cs:effectRef idx="0"/>
    <cs:fontRef idx="minor">
      <a:schemeClr val="dk1"/>
    </cs:fontRef>
    <cs:spPr>
      <a:solidFill>
        <a:schemeClr val="phClr"/>
      </a:solidFill>
      <a:ln w="22225">
        <a:solidFill>
          <a:schemeClr val="lt1"/>
        </a:solidFill>
        <a:round/>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styleClr val="0"/>
    </cs:lnRef>
    <cs:fillRef idx="0"/>
    <cs:effectRef idx="0"/>
    <cs:fontRef idx="minor">
      <a:schemeClr val="lt1"/>
    </cs:fontRef>
    <cs:spPr>
      <a:ln w="9525">
        <a:solidFill>
          <a:schemeClr val="phClr">
            <a:lumMod val="60000"/>
            <a:lumOff val="40000"/>
          </a:schemeClr>
        </a:solidFill>
      </a:ln>
    </cs:spPr>
    <cs:defRPr sz="900" kern="1200"/>
  </cs:dataTable>
  <cs:downBar>
    <cs:lnRef idx="0">
      <cs:styleClr val="0"/>
    </cs:lnRef>
    <cs:fillRef idx="0"/>
    <cs:effectRef idx="0"/>
    <cs:fontRef idx="minor">
      <a:schemeClr val="dk1"/>
    </cs:fontRef>
    <cs:spPr>
      <a:solidFill>
        <a:schemeClr val="dk1">
          <a:lumMod val="35000"/>
          <a:lumOff val="65000"/>
        </a:schemeClr>
      </a:solidFill>
      <a:ln w="9525">
        <a:solidFill>
          <a:schemeClr val="phClr">
            <a:lumMod val="60000"/>
            <a:lumOff val="40000"/>
          </a:schemeClr>
        </a:solidFill>
      </a:ln>
    </cs:spPr>
  </cs:downBar>
  <cs:dropLine>
    <cs:lnRef idx="0"/>
    <cs:fillRef idx="0"/>
    <cs:effectRef idx="0"/>
    <cs:fontRef idx="minor">
      <a:schemeClr val="dk1"/>
    </cs:fontRef>
    <cs:spPr>
      <a:ln w="9525" cap="flat" cmpd="sng" algn="ctr">
        <a:gradFill>
          <a:gsLst>
            <a:gs pos="0">
              <a:schemeClr val="lt1"/>
            </a:gs>
            <a:gs pos="100000">
              <a:schemeClr val="lt1">
                <a:alpha val="0"/>
              </a:schemeClr>
            </a:gs>
          </a:gsLst>
          <a:lin ang="5400000" scaled="0"/>
        </a:gradFill>
        <a:round/>
      </a:ln>
    </cs:spPr>
  </cs:dropLine>
  <cs:errorBar>
    <cs:lnRef idx="0">
      <cs:styleClr val="0"/>
    </cs:lnRef>
    <cs:fillRef idx="0"/>
    <cs:effectRef idx="0"/>
    <cs:fontRef idx="minor">
      <a:schemeClr val="dk1"/>
    </cs:fontRef>
    <cs:spPr>
      <a:ln w="9525">
        <a:solidFill>
          <a:schemeClr val="phClr">
            <a:lumMod val="60000"/>
            <a:lumOff val="40000"/>
          </a:schemeClr>
        </a:solidFill>
        <a:round/>
      </a:ln>
      <a:effectLst>
        <a:glow rad="25400">
          <a:schemeClr val="lt1"/>
        </a:glow>
      </a:effectLst>
    </cs:spPr>
  </cs:errorBar>
  <cs:floor>
    <cs:lnRef idx="0"/>
    <cs:fillRef idx="0"/>
    <cs:effectRef idx="0"/>
    <cs:fontRef idx="minor">
      <a:schemeClr val="dk1"/>
    </cs:fontRef>
  </cs:floor>
  <cs:gridlineMajor>
    <cs:lnRef idx="0">
      <cs:styleClr val="0"/>
    </cs:lnRef>
    <cs:fillRef idx="0"/>
    <cs:effectRef idx="0"/>
    <cs:fontRef idx="minor">
      <a:schemeClr val="dk1"/>
    </cs:fontRef>
    <cs:spPr>
      <a:ln w="9525" cap="flat" cmpd="sng" algn="ctr">
        <a:solidFill>
          <a:schemeClr val="lt1">
            <a:alpha val="25000"/>
          </a:schemeClr>
        </a:solidFill>
        <a:round/>
      </a:ln>
    </cs:spPr>
  </cs:gridlineMajor>
  <cs:gridlineMinor>
    <cs:lnRef idx="0">
      <cs:styleClr val="0"/>
    </cs:lnRef>
    <cs:fillRef idx="0"/>
    <cs:effectRef idx="0"/>
    <cs:fontRef idx="minor">
      <a:schemeClr val="dk1"/>
    </cs:fontRef>
    <cs:spPr>
      <a:ln>
        <a:solidFill>
          <a:schemeClr val="lt1">
            <a:alpha val="10000"/>
          </a:schemeClr>
        </a:solidFill>
      </a:ln>
    </cs:spPr>
  </cs:gridlineMinor>
  <cs:hiLoLine>
    <cs:lnRef idx="0">
      <cs:styleClr val="0"/>
    </cs:lnRef>
    <cs:fillRef idx="0"/>
    <cs:effectRef idx="0"/>
    <cs:fontRef idx="minor">
      <a:schemeClr val="dk1"/>
    </cs:fontRef>
    <cs:spPr>
      <a:ln w="9525">
        <a:solidFill>
          <a:schemeClr val="phClr">
            <a:lumMod val="60000"/>
            <a:lumOff val="40000"/>
          </a:schemeClr>
        </a:solidFill>
        <a:prstDash val="dash"/>
      </a:ln>
    </cs:spPr>
  </cs:hiLoLine>
  <cs:leaderLine>
    <cs:lnRef idx="0">
      <cs:styleClr val="0"/>
    </cs:lnRef>
    <cs:fillRef idx="0"/>
    <cs:effectRef idx="0"/>
    <cs:fontRef idx="minor">
      <a:schemeClr val="dk1"/>
    </cs:fontRef>
    <cs:spPr>
      <a:ln w="9525">
        <a:solidFill>
          <a:schemeClr val="phClr">
            <a:lumMod val="60000"/>
            <a:lumOff val="40000"/>
          </a:schemeClr>
        </a:solidFill>
      </a:ln>
    </cs:spPr>
  </cs:leaderLine>
  <cs:legend>
    <cs:lnRef idx="0"/>
    <cs:fillRef idx="0"/>
    <cs:effectRef idx="0"/>
    <cs:fontRef idx="minor">
      <a:schemeClr val="lt1"/>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styleClr val="0"/>
    </cs:lnRef>
    <cs:fillRef idx="0"/>
    <cs:effectRef idx="0"/>
    <cs:fontRef idx="minor">
      <a:schemeClr val="lt1"/>
    </cs:fontRef>
    <cs:spPr>
      <a:ln w="3175" cap="flat" cmpd="sng" algn="ctr">
        <a:solidFill>
          <a:schemeClr val="phClr">
            <a:lumMod val="60000"/>
            <a:lumOff val="40000"/>
          </a:schemeClr>
        </a:solidFill>
        <a:round/>
      </a:ln>
    </cs:spPr>
    <cs:defRPr sz="900" kern="1200"/>
  </cs:seriesAxis>
  <cs:seriesLine>
    <cs:lnRef idx="0">
      <cs:styleClr val="0"/>
    </cs:lnRef>
    <cs:fillRef idx="0"/>
    <cs:effectRef idx="0"/>
    <cs:fontRef idx="minor">
      <a:schemeClr val="dk1"/>
    </cs:fontRef>
    <cs:spPr>
      <a:ln w="9525">
        <a:solidFill>
          <a:schemeClr val="phClr">
            <a:lumMod val="60000"/>
            <a:lumOff val="40000"/>
            <a:tint val="50000"/>
          </a:schemeClr>
        </a:solidFill>
        <a:prstDash val="dash"/>
      </a:ln>
    </cs:spPr>
  </cs:seriesLine>
  <cs:title>
    <cs:lnRef idx="0"/>
    <cs:fillRef idx="0"/>
    <cs:effectRef idx="0"/>
    <cs:fontRef idx="minor">
      <a:schemeClr val="lt1"/>
    </cs:fontRef>
    <cs:defRPr sz="1500" b="1" kern="1200" cap="all" spc="100" normalizeH="0" baseline="0"/>
  </cs:title>
  <cs:trendline>
    <cs:lnRef idx="0"/>
    <cs:fillRef idx="0"/>
    <cs:effectRef idx="0"/>
    <cs:fontRef idx="minor">
      <a:schemeClr val="dk1"/>
    </cs:fontRef>
    <cs:spPr>
      <a:ln w="28575" cap="rnd">
        <a:solidFill>
          <a:schemeClr val="lt1">
            <a:alpha val="50000"/>
          </a:schemeClr>
        </a:solidFill>
        <a:round/>
      </a:ln>
    </cs:spPr>
  </cs:trendline>
  <cs:trendlineLabel>
    <cs:lnRef idx="0"/>
    <cs:fillRef idx="0"/>
    <cs:effectRef idx="0"/>
    <cs:fontRef idx="minor">
      <a:schemeClr val="lt1"/>
    </cs:fontRef>
    <cs:defRPr sz="900" kern="1200"/>
  </cs:trendlineLabel>
  <cs:upBar>
    <cs:lnRef idx="0">
      <cs:styleClr val="0"/>
    </cs:lnRef>
    <cs:fillRef idx="0"/>
    <cs:effectRef idx="0"/>
    <cs:fontRef idx="minor">
      <a:schemeClr val="dk1"/>
    </cs:fontRef>
    <cs:spPr>
      <a:solidFill>
        <a:schemeClr val="lt1">
          <a:lumMod val="95000"/>
        </a:schemeClr>
      </a:solidFill>
      <a:ln w="9525">
        <a:solidFill>
          <a:schemeClr val="phClr">
            <a:lumMod val="60000"/>
            <a:lumOff val="40000"/>
          </a:schemeClr>
        </a:solidFill>
      </a:ln>
    </cs:spPr>
  </cs:upBar>
  <cs:valueAxis>
    <cs:lnRef idx="0"/>
    <cs:fillRef idx="0"/>
    <cs:effectRef idx="0"/>
    <cs:fontRef idx="minor">
      <a:schemeClr val="lt1"/>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00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6.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9.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FB74276-248F-49D9-A911-AFC04071BD73}" type="datetimeFigureOut">
              <a:rPr lang="en-IN" smtClean="0"/>
              <a:t>05-02-2026</a:t>
            </a:fld>
            <a:endParaRPr lang="en-IN"/>
          </a:p>
        </p:txBody>
      </p:sp>
      <p:sp>
        <p:nvSpPr>
          <p:cNvPr id="5" name="Footer Placeholder 4"/>
          <p:cNvSpPr>
            <a:spLocks noGrp="1"/>
          </p:cNvSpPr>
          <p:nvPr>
            <p:ph type="ftr" sz="quarter" idx="11"/>
          </p:nvPr>
        </p:nvSpPr>
        <p:spPr>
          <a:xfrm>
            <a:off x="1371600" y="4323845"/>
            <a:ext cx="6400800" cy="365125"/>
          </a:xfrm>
        </p:spPr>
        <p:txBody>
          <a:bodyPr/>
          <a:lstStyle/>
          <a:p>
            <a:endParaRPr lang="en-IN"/>
          </a:p>
        </p:txBody>
      </p:sp>
      <p:sp>
        <p:nvSpPr>
          <p:cNvPr id="6" name="Slide Number Placeholder 5"/>
          <p:cNvSpPr>
            <a:spLocks noGrp="1"/>
          </p:cNvSpPr>
          <p:nvPr>
            <p:ph type="sldNum" sz="quarter" idx="12"/>
          </p:nvPr>
        </p:nvSpPr>
        <p:spPr>
          <a:xfrm>
            <a:off x="8077200" y="1430866"/>
            <a:ext cx="2743200" cy="365125"/>
          </a:xfrm>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260178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B74276-248F-49D9-A911-AFC04071BD73}"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1420364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FB74276-248F-49D9-A911-AFC04071BD73}" type="datetimeFigureOut">
              <a:rPr lang="en-IN" smtClean="0"/>
              <a:t>05-02-2026</a:t>
            </a:fld>
            <a:endParaRPr lang="en-IN"/>
          </a:p>
        </p:txBody>
      </p:sp>
      <p:sp>
        <p:nvSpPr>
          <p:cNvPr id="5" name="Footer Placeholder 4"/>
          <p:cNvSpPr>
            <a:spLocks noGrp="1"/>
          </p:cNvSpPr>
          <p:nvPr>
            <p:ph type="ftr" sz="quarter" idx="11"/>
          </p:nvPr>
        </p:nvSpPr>
        <p:spPr>
          <a:xfrm>
            <a:off x="685800" y="381001"/>
            <a:ext cx="6991492" cy="36406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638770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4216621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FB74276-248F-49D9-A911-AFC04071BD73}" type="datetimeFigureOut">
              <a:rPr lang="en-IN" smtClean="0"/>
              <a:t>05-02-2026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164553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FB74276-248F-49D9-A911-AFC04071BD73}"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092078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B74276-248F-49D9-A911-AFC04071BD73}" type="datetimeFigureOut">
              <a:rPr lang="en-IN" smtClean="0"/>
              <a:t>05-02-2026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2770357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6935510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142617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15966438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10871759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a:xfrm>
            <a:off x="685800" y="379941"/>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EAE178E-9688-4EBD-B453-BDB1A8FD1D91}" type="slidenum">
              <a:rPr lang="en-IN" smtClean="0"/>
              <a:t>‹#›</a:t>
            </a:fld>
            <a:endParaRPr lang="en-IN"/>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538710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FB74276-248F-49D9-A911-AFC04071BD73}" type="datetimeFigureOut">
              <a:rPr lang="en-IN" smtClean="0"/>
              <a:t>05-02-2026</a:t>
            </a:fld>
            <a:endParaRPr lang="en-IN"/>
          </a:p>
        </p:txBody>
      </p:sp>
      <p:sp>
        <p:nvSpPr>
          <p:cNvPr id="6" name="Footer Placeholder 5"/>
          <p:cNvSpPr>
            <a:spLocks noGrp="1"/>
          </p:cNvSpPr>
          <p:nvPr>
            <p:ph type="ftr" sz="quarter" idx="11"/>
          </p:nvPr>
        </p:nvSpPr>
        <p:spPr>
          <a:xfrm>
            <a:off x="685800" y="378883"/>
            <a:ext cx="6991492" cy="365125"/>
          </a:xfrm>
        </p:spPr>
        <p:txBody>
          <a:bodyPr/>
          <a:lstStyle/>
          <a:p>
            <a:endParaRPr lang="en-IN"/>
          </a:p>
        </p:txBody>
      </p:sp>
      <p:sp>
        <p:nvSpPr>
          <p:cNvPr id="7" name="Slide Number Placeholder 6"/>
          <p:cNvSpPr>
            <a:spLocks noGrp="1"/>
          </p:cNvSpPr>
          <p:nvPr>
            <p:ph type="sldNum" sz="quarter" idx="12"/>
          </p:nvPr>
        </p:nvSpPr>
        <p:spPr>
          <a:xfrm>
            <a:off x="10862452" y="381000"/>
            <a:ext cx="643748" cy="365125"/>
          </a:xfrm>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5895441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FB74276-248F-49D9-A911-AFC04071BD73}"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2553963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1FB74276-248F-49D9-A911-AFC04071BD73}"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0486993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FB74276-248F-49D9-A911-AFC04071BD73}"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3371665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1FB74276-248F-49D9-A911-AFC04071BD73}" type="datetimeFigureOut">
              <a:rPr lang="en-IN" smtClean="0"/>
              <a:t>05-02-2026</a:t>
            </a:fld>
            <a:endParaRPr lang="en-IN"/>
          </a:p>
        </p:txBody>
      </p:sp>
      <p:sp>
        <p:nvSpPr>
          <p:cNvPr id="5" name="Footer Placeholder 4"/>
          <p:cNvSpPr>
            <a:spLocks noGrp="1"/>
          </p:cNvSpPr>
          <p:nvPr>
            <p:ph type="ftr" sz="quarter" idx="11"/>
          </p:nvPr>
        </p:nvSpPr>
        <p:spPr>
          <a:xfrm>
            <a:off x="685800" y="381000"/>
            <a:ext cx="6991492" cy="365125"/>
          </a:xfrm>
        </p:spPr>
        <p:txBody>
          <a:bodyPr/>
          <a:lstStyle/>
          <a:p>
            <a:endParaRPr lang="en-IN"/>
          </a:p>
        </p:txBody>
      </p:sp>
      <p:sp>
        <p:nvSpPr>
          <p:cNvPr id="6" name="Slide Number Placeholder 5"/>
          <p:cNvSpPr>
            <a:spLocks noGrp="1"/>
          </p:cNvSpPr>
          <p:nvPr>
            <p:ph type="sldNum" sz="quarter" idx="12"/>
          </p:nvPr>
        </p:nvSpPr>
        <p:spPr>
          <a:xfrm>
            <a:off x="10862452" y="381000"/>
            <a:ext cx="643748" cy="365125"/>
          </a:xfrm>
        </p:spPr>
        <p:txBody>
          <a:bodyPr/>
          <a:lstStyle/>
          <a:p>
            <a:fld id="{AEAE178E-9688-4EBD-B453-BDB1A8FD1D91}" type="slidenum">
              <a:rPr lang="en-IN" smtClean="0"/>
              <a:t>‹#›</a:t>
            </a:fld>
            <a:endParaRPr lang="en-IN"/>
          </a:p>
        </p:txBody>
      </p:sp>
    </p:spTree>
    <p:extLst>
      <p:ext uri="{BB962C8B-B14F-4D97-AF65-F5344CB8AC3E}">
        <p14:creationId xmlns:p14="http://schemas.microsoft.com/office/powerpoint/2010/main" val="4028150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FB74276-248F-49D9-A911-AFC04071BD73}" type="datetimeFigureOut">
              <a:rPr lang="en-IN" smtClean="0"/>
              <a:t>05-02-2026</a:t>
            </a:fld>
            <a:endParaRPr lang="en-IN"/>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EAE178E-9688-4EBD-B453-BDB1A8FD1D91}" type="slidenum">
              <a:rPr lang="en-IN" smtClean="0"/>
              <a:t>‹#›</a:t>
            </a:fld>
            <a:endParaRPr lang="en-IN"/>
          </a:p>
        </p:txBody>
      </p:sp>
    </p:spTree>
    <p:extLst>
      <p:ext uri="{BB962C8B-B14F-4D97-AF65-F5344CB8AC3E}">
        <p14:creationId xmlns:p14="http://schemas.microsoft.com/office/powerpoint/2010/main" val="2408235052"/>
      </p:ext>
    </p:extLst>
  </p:cSld>
  <p:clrMap bg1="dk1" tx1="lt1" bg2="dk2" tx2="lt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 id="2147484035" r:id="rId12"/>
    <p:sldLayoutId id="2147484036" r:id="rId13"/>
    <p:sldLayoutId id="2147484037" r:id="rId14"/>
    <p:sldLayoutId id="2147484038" r:id="rId15"/>
    <p:sldLayoutId id="2147484039" r:id="rId16"/>
    <p:sldLayoutId id="2147484040"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0322" y="2829961"/>
            <a:ext cx="8144134" cy="1373070"/>
          </a:xfrm>
        </p:spPr>
        <p:txBody>
          <a:bodyPr>
            <a:normAutofit fontScale="90000"/>
          </a:bodyPr>
          <a:lstStyle/>
          <a:p>
            <a:r>
              <a:rPr lang="en-US" b="1" dirty="0"/>
              <a:t>IT Ticket </a:t>
            </a:r>
            <a:br>
              <a:rPr lang="en-US" b="1" dirty="0"/>
            </a:br>
            <a:r>
              <a:rPr lang="en-US" b="1" dirty="0"/>
              <a:t>Analysis Report</a:t>
            </a:r>
            <a:endParaRPr lang="en-IN" b="1" dirty="0"/>
          </a:p>
        </p:txBody>
      </p:sp>
      <p:sp>
        <p:nvSpPr>
          <p:cNvPr id="3" name="Subtitle 2"/>
          <p:cNvSpPr>
            <a:spLocks noGrp="1"/>
          </p:cNvSpPr>
          <p:nvPr>
            <p:ph type="subTitle" idx="1"/>
          </p:nvPr>
        </p:nvSpPr>
        <p:spPr>
          <a:xfrm>
            <a:off x="680322" y="4394039"/>
            <a:ext cx="8144134" cy="1393150"/>
          </a:xfrm>
        </p:spPr>
        <p:txBody>
          <a:bodyPr>
            <a:normAutofit lnSpcReduction="10000"/>
          </a:bodyPr>
          <a:lstStyle/>
          <a:p>
            <a:r>
              <a:rPr lang="en-US" sz="1800" dirty="0">
                <a:solidFill>
                  <a:srgbClr val="FFC000"/>
                </a:solidFill>
              </a:rPr>
              <a:t>“Elevating IT Support Efficiency with Data-Driven Strategies</a:t>
            </a:r>
            <a:r>
              <a:rPr lang="en-US" sz="1800" dirty="0" smtClean="0">
                <a:solidFill>
                  <a:srgbClr val="FFC000"/>
                </a:solidFill>
              </a:rPr>
              <a:t>”</a:t>
            </a:r>
          </a:p>
          <a:p>
            <a:endParaRPr lang="en-US" sz="1800" dirty="0" smtClean="0">
              <a:solidFill>
                <a:srgbClr val="FFC000"/>
              </a:solidFill>
            </a:endParaRPr>
          </a:p>
          <a:p>
            <a:r>
              <a:rPr lang="en-US" sz="1600" dirty="0" smtClean="0"/>
              <a:t>Spreadsheet </a:t>
            </a:r>
            <a:r>
              <a:rPr lang="en-US" sz="1600" dirty="0"/>
              <a:t>Project – by </a:t>
            </a:r>
            <a:r>
              <a:rPr lang="en-US" sz="1600" dirty="0" smtClean="0"/>
              <a:t>Anurag Kumar</a:t>
            </a:r>
            <a:endParaRPr lang="en-US" sz="1600" dirty="0"/>
          </a:p>
          <a:p>
            <a:r>
              <a:rPr lang="en-US" sz="1600" dirty="0" smtClean="0"/>
              <a:t>5 Feb 2026</a:t>
            </a:r>
            <a:endParaRPr lang="en-US" sz="1600" dirty="0"/>
          </a:p>
          <a:p>
            <a:endParaRPr lang="en-IN" dirty="0"/>
          </a:p>
        </p:txBody>
      </p:sp>
    </p:spTree>
    <p:extLst>
      <p:ext uri="{BB962C8B-B14F-4D97-AF65-F5344CB8AC3E}">
        <p14:creationId xmlns:p14="http://schemas.microsoft.com/office/powerpoint/2010/main" val="42277318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Agenda</a:t>
            </a:r>
            <a:endParaRPr lang="en-IN" b="1" dirty="0"/>
          </a:p>
        </p:txBody>
      </p:sp>
      <p:sp>
        <p:nvSpPr>
          <p:cNvPr id="3" name="Content Placeholder 2"/>
          <p:cNvSpPr>
            <a:spLocks noGrp="1"/>
          </p:cNvSpPr>
          <p:nvPr>
            <p:ph idx="1"/>
          </p:nvPr>
        </p:nvSpPr>
        <p:spPr/>
        <p:txBody>
          <a:bodyPr/>
          <a:lstStyle/>
          <a:p>
            <a:pPr marL="285750" indent="-285750">
              <a:buClr>
                <a:schemeClr val="accent2"/>
              </a:buClr>
              <a:buFont typeface="Wingdings" panose="05000000000000000000" pitchFamily="2" charset="2"/>
              <a:buChar char="q"/>
            </a:pPr>
            <a:r>
              <a:rPr lang="en-US" dirty="0">
                <a:latin typeface="Arial" panose="020B0604020202020204" pitchFamily="34" charset="0"/>
                <a:cs typeface="Arial" panose="020B0604020202020204" pitchFamily="34" charset="0"/>
              </a:rPr>
              <a:t>Problem Statement</a:t>
            </a:r>
          </a:p>
          <a:p>
            <a:pPr marL="285750" indent="-285750">
              <a:buClr>
                <a:schemeClr val="accent2"/>
              </a:buClr>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Clr>
                <a:schemeClr val="accent2"/>
              </a:buClr>
              <a:buFont typeface="Wingdings" panose="05000000000000000000" pitchFamily="2" charset="2"/>
              <a:buChar char="q"/>
            </a:pPr>
            <a:r>
              <a:rPr lang="en-US" dirty="0">
                <a:latin typeface="Arial" panose="020B0604020202020204" pitchFamily="34" charset="0"/>
                <a:cs typeface="Arial" panose="020B0604020202020204" pitchFamily="34" charset="0"/>
              </a:rPr>
              <a:t>Data Description</a:t>
            </a:r>
          </a:p>
          <a:p>
            <a:pPr marL="285750" indent="-285750">
              <a:buClr>
                <a:schemeClr val="accent2"/>
              </a:buClr>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Clr>
                <a:schemeClr val="accent2"/>
              </a:buClr>
              <a:buFont typeface="Wingdings" panose="05000000000000000000" pitchFamily="2" charset="2"/>
              <a:buChar char="q"/>
            </a:pPr>
            <a:r>
              <a:rPr lang="en-US" dirty="0">
                <a:latin typeface="Arial" panose="020B0604020202020204" pitchFamily="34" charset="0"/>
                <a:cs typeface="Arial" panose="020B0604020202020204" pitchFamily="34" charset="0"/>
              </a:rPr>
              <a:t>Objective Key Metrics and Visualizations</a:t>
            </a:r>
          </a:p>
          <a:p>
            <a:pPr marL="285750" indent="-285750">
              <a:buClr>
                <a:schemeClr val="accent2"/>
              </a:buClr>
              <a:buFont typeface="Wingdings" panose="05000000000000000000" pitchFamily="2" charset="2"/>
              <a:buChar char="q"/>
            </a:pPr>
            <a:endParaRPr lang="en-US" dirty="0">
              <a:latin typeface="Arial" panose="020B0604020202020204" pitchFamily="34" charset="0"/>
              <a:cs typeface="Arial" panose="020B0604020202020204" pitchFamily="34" charset="0"/>
            </a:endParaRPr>
          </a:p>
          <a:p>
            <a:pPr marL="285750" indent="-285750">
              <a:buClr>
                <a:schemeClr val="accent2"/>
              </a:buClr>
              <a:buFont typeface="Wingdings" panose="05000000000000000000" pitchFamily="2" charset="2"/>
              <a:buChar char="q"/>
            </a:pPr>
            <a:r>
              <a:rPr lang="en-US" dirty="0">
                <a:latin typeface="Arial" panose="020B0604020202020204" pitchFamily="34" charset="0"/>
                <a:cs typeface="Arial" panose="020B0604020202020204" pitchFamily="34" charset="0"/>
              </a:rPr>
              <a:t>Insights and Recommendations</a:t>
            </a:r>
          </a:p>
          <a:p>
            <a:pPr marL="0" indent="0">
              <a:buNone/>
            </a:pPr>
            <a:endParaRPr lang="en-IN" dirty="0"/>
          </a:p>
        </p:txBody>
      </p:sp>
    </p:spTree>
    <p:extLst>
      <p:ext uri="{BB962C8B-B14F-4D97-AF65-F5344CB8AC3E}">
        <p14:creationId xmlns:p14="http://schemas.microsoft.com/office/powerpoint/2010/main" val="8756719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5869" y="1413633"/>
            <a:ext cx="8610600" cy="1986608"/>
          </a:xfrm>
        </p:spPr>
        <p:txBody>
          <a:bodyPr>
            <a:noAutofit/>
          </a:bodyPr>
          <a:lstStyle/>
          <a:p>
            <a:pPr algn="l"/>
            <a:r>
              <a:rPr lang="en-IN" sz="16600" dirty="0" smtClean="0">
                <a:latin typeface="Arial Rounded MT Bold" panose="020F0704030504030204" pitchFamily="34" charset="0"/>
              </a:rPr>
              <a:t>“</a:t>
            </a:r>
            <a:endParaRPr lang="en-IN" sz="16600" dirty="0">
              <a:latin typeface="Arial Rounded MT Bold" panose="020F0704030504030204" pitchFamily="34" charset="0"/>
            </a:endParaRPr>
          </a:p>
        </p:txBody>
      </p:sp>
      <p:sp>
        <p:nvSpPr>
          <p:cNvPr id="3" name="Content Placeholder 2"/>
          <p:cNvSpPr>
            <a:spLocks noGrp="1"/>
          </p:cNvSpPr>
          <p:nvPr>
            <p:ph idx="1"/>
          </p:nvPr>
        </p:nvSpPr>
        <p:spPr>
          <a:xfrm>
            <a:off x="1039761" y="2536723"/>
            <a:ext cx="10820400" cy="4024125"/>
          </a:xfrm>
        </p:spPr>
        <p:txBody>
          <a:bodyPr/>
          <a:lstStyle/>
          <a:p>
            <a:pPr marL="0" indent="0" algn="ctr">
              <a:buNone/>
            </a:pPr>
            <a:r>
              <a:rPr lang="en-US" b="1" dirty="0"/>
              <a:t>Did you know? Without analyzing ticket and performance data, IT teams spend almost 70% of their time on repetitive issues</a:t>
            </a:r>
            <a:r>
              <a:rPr lang="en-US" dirty="0"/>
              <a:t>, leaving little room for innovation or improvement.</a:t>
            </a:r>
            <a:endParaRPr lang="en-IN" dirty="0"/>
          </a:p>
        </p:txBody>
      </p:sp>
    </p:spTree>
    <p:extLst>
      <p:ext uri="{BB962C8B-B14F-4D97-AF65-F5344CB8AC3E}">
        <p14:creationId xmlns:p14="http://schemas.microsoft.com/office/powerpoint/2010/main" val="8363415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0747" y="234555"/>
            <a:ext cx="8610600" cy="1136616"/>
          </a:xfrm>
        </p:spPr>
        <p:txBody>
          <a:bodyPr/>
          <a:lstStyle/>
          <a:p>
            <a:r>
              <a:rPr lang="en-IN" b="1" dirty="0"/>
              <a:t>Problem Statement</a:t>
            </a:r>
          </a:p>
        </p:txBody>
      </p:sp>
      <p:sp>
        <p:nvSpPr>
          <p:cNvPr id="3" name="Content Placeholder 2"/>
          <p:cNvSpPr>
            <a:spLocks noGrp="1"/>
          </p:cNvSpPr>
          <p:nvPr>
            <p:ph idx="1"/>
          </p:nvPr>
        </p:nvSpPr>
        <p:spPr>
          <a:xfrm>
            <a:off x="806116" y="1371171"/>
            <a:ext cx="10820400" cy="4024125"/>
          </a:xfrm>
        </p:spPr>
        <p:txBody>
          <a:bodyPr/>
          <a:lstStyle/>
          <a:p>
            <a:pPr marL="0" indent="0">
              <a:buNone/>
            </a:pPr>
            <a:r>
              <a:rPr lang="en-US" sz="2000" dirty="0">
                <a:latin typeface="Arial" panose="020B0604020202020204" pitchFamily="34" charset="0"/>
                <a:cs typeface="Arial" panose="020B0604020202020204" pitchFamily="34" charset="0"/>
              </a:rPr>
              <a:t>The objective is to analyze the IT support ticket management system to understand the performance of IT agents, the efficiency of ticket resolution, and the satisfaction levels of employees. The analysis aims to identify high and low performers among IT agents, assess the overall effectiveness of the team, and pinpoint areas for improvement in the ticket resolution process. The ultimate goal is to make informed staffing decisions, including hiring, firing, and training, to enhance overall service quality and team performance.</a:t>
            </a:r>
          </a:p>
          <a:p>
            <a:pPr marL="0" indent="0">
              <a:buNone/>
            </a:pPr>
            <a:endParaRPr lang="en-IN" dirty="0"/>
          </a:p>
        </p:txBody>
      </p:sp>
      <p:sp>
        <p:nvSpPr>
          <p:cNvPr id="5" name="Text Placeholder 4">
            <a:extLst>
              <a:ext uri="{FF2B5EF4-FFF2-40B4-BE49-F238E27FC236}">
                <a16:creationId xmlns:a16="http://schemas.microsoft.com/office/drawing/2014/main" id="{087D807A-0E02-7F70-9E62-1CEB05B8F6E8}"/>
              </a:ext>
            </a:extLst>
          </p:cNvPr>
          <p:cNvSpPr txBox="1">
            <a:spLocks/>
          </p:cNvSpPr>
          <p:nvPr/>
        </p:nvSpPr>
        <p:spPr>
          <a:xfrm>
            <a:off x="806116" y="4475517"/>
            <a:ext cx="10357464" cy="183955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accent2"/>
              </a:buClr>
              <a:buFont typeface="Arial" panose="020B0604020202020204" pitchFamily="34" charset="0"/>
              <a:buNone/>
              <a:defRPr lang="en-US" sz="1600" kern="1200" spc="300">
                <a:solidFill>
                  <a:schemeClr val="accent1">
                    <a:lumMod val="20000"/>
                    <a:lumOff val="80000"/>
                  </a:schemeClr>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q"/>
            </a:pPr>
            <a:r>
              <a:rPr lang="en-US" dirty="0">
                <a:latin typeface="Arial" panose="020B0604020202020204" pitchFamily="34" charset="0"/>
              </a:rPr>
              <a:t>Informed staffing decisions</a:t>
            </a:r>
          </a:p>
          <a:p>
            <a:pPr marL="285750" indent="-285750">
              <a:lnSpc>
                <a:spcPct val="150000"/>
              </a:lnSpc>
              <a:buFont typeface="Wingdings" panose="05000000000000000000" pitchFamily="2" charset="2"/>
              <a:buChar char="q"/>
            </a:pPr>
            <a:r>
              <a:rPr lang="en-US" dirty="0">
                <a:latin typeface="Arial" panose="020B0604020202020204" pitchFamily="34" charset="0"/>
              </a:rPr>
              <a:t>Improved training</a:t>
            </a:r>
          </a:p>
          <a:p>
            <a:pPr marL="285750" indent="-285750">
              <a:lnSpc>
                <a:spcPct val="150000"/>
              </a:lnSpc>
              <a:buFont typeface="Wingdings" panose="05000000000000000000" pitchFamily="2" charset="2"/>
              <a:buChar char="q"/>
            </a:pPr>
            <a:r>
              <a:rPr lang="en-US" dirty="0">
                <a:latin typeface="Arial" panose="020B0604020202020204" pitchFamily="34" charset="0"/>
              </a:rPr>
              <a:t>And software efficiency.</a:t>
            </a:r>
          </a:p>
        </p:txBody>
      </p:sp>
      <p:sp>
        <p:nvSpPr>
          <p:cNvPr id="6" name="TextBox 5"/>
          <p:cNvSpPr txBox="1"/>
          <p:nvPr/>
        </p:nvSpPr>
        <p:spPr>
          <a:xfrm>
            <a:off x="806116" y="3814010"/>
            <a:ext cx="1684422" cy="584775"/>
          </a:xfrm>
          <a:prstGeom prst="rect">
            <a:avLst/>
          </a:prstGeom>
          <a:noFill/>
        </p:spPr>
        <p:txBody>
          <a:bodyPr wrap="square" rtlCol="0">
            <a:spAutoFit/>
          </a:bodyPr>
          <a:lstStyle/>
          <a:p>
            <a:r>
              <a:rPr lang="en-IN" sz="3200" dirty="0" smtClean="0">
                <a:latin typeface="Arial" panose="020B0604020202020204" pitchFamily="34" charset="0"/>
                <a:cs typeface="Arial" panose="020B0604020202020204" pitchFamily="34" charset="0"/>
              </a:rPr>
              <a:t>Goal</a:t>
            </a:r>
            <a:r>
              <a:rPr lang="en-IN" sz="2800" dirty="0" smtClean="0">
                <a:latin typeface="Arial" panose="020B0604020202020204" pitchFamily="34" charset="0"/>
                <a:cs typeface="Arial" panose="020B0604020202020204" pitchFamily="34" charset="0"/>
              </a:rPr>
              <a:t>:</a:t>
            </a:r>
            <a:endParaRPr lang="en-IN"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1412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Data</a:t>
            </a:r>
            <a:r>
              <a:rPr lang="en-IN" dirty="0"/>
              <a:t> </a:t>
            </a:r>
            <a:r>
              <a:rPr lang="en-IN" b="1" dirty="0"/>
              <a:t>Overview</a:t>
            </a:r>
          </a:p>
        </p:txBody>
      </p:sp>
      <p:sp>
        <p:nvSpPr>
          <p:cNvPr id="4" name="Text Placeholder 9">
            <a:extLst>
              <a:ext uri="{FF2B5EF4-FFF2-40B4-BE49-F238E27FC236}">
                <a16:creationId xmlns:a16="http://schemas.microsoft.com/office/drawing/2014/main" id="{EF2BC084-E6DB-4DE7-B309-042A85EBA700}"/>
              </a:ext>
            </a:extLst>
          </p:cNvPr>
          <p:cNvSpPr>
            <a:spLocks noGrp="1"/>
          </p:cNvSpPr>
          <p:nvPr>
            <p:ph idx="1"/>
          </p:nvPr>
        </p:nvSpPr>
        <p:spPr>
          <a:xfrm>
            <a:off x="625642" y="2543476"/>
            <a:ext cx="4307305" cy="4206240"/>
          </a:xfrm>
        </p:spPr>
        <p:txBody>
          <a:bodyPr>
            <a:normAutofit fontScale="92500" lnSpcReduction="10000"/>
          </a:bodyPr>
          <a:lstStyle/>
          <a:p>
            <a:pPr>
              <a:buClr>
                <a:schemeClr val="accent2"/>
              </a:buClr>
              <a:buFont typeface="Wingdings" panose="05000000000000000000" pitchFamily="2" charset="2"/>
              <a:buChar char="q"/>
            </a:pPr>
            <a:r>
              <a:rPr lang="en-US" sz="1900" dirty="0">
                <a:latin typeface="Arial" panose="020B0604020202020204" pitchFamily="34" charset="0"/>
                <a:cs typeface="Arial" panose="020B0604020202020204" pitchFamily="34" charset="0"/>
              </a:rPr>
              <a:t>Tickets Sheet : Contains information about IT support tickets. Tickets Sheet: Contains information about IT support tickets</a:t>
            </a:r>
            <a:r>
              <a:rPr lang="en-US" sz="1900" dirty="0" smtClean="0">
                <a:latin typeface="Arial" panose="020B0604020202020204" pitchFamily="34" charset="0"/>
                <a:cs typeface="Arial" panose="020B0604020202020204" pitchFamily="34" charset="0"/>
              </a:rPr>
              <a:t>.</a:t>
            </a:r>
            <a:endParaRPr lang="en-US" sz="1900" dirty="0">
              <a:latin typeface="Arial" panose="020B0604020202020204" pitchFamily="34" charset="0"/>
              <a:cs typeface="Arial" panose="020B0604020202020204" pitchFamily="34" charset="0"/>
            </a:endParaRPr>
          </a:p>
          <a:p>
            <a:pPr lvl="1">
              <a:buClr>
                <a:schemeClr val="accent2"/>
              </a:buClr>
            </a:pPr>
            <a:r>
              <a:rPr lang="en-US" sz="1600" dirty="0">
                <a:latin typeface="Arial" panose="020B0604020202020204" pitchFamily="34" charset="0"/>
                <a:cs typeface="Arial" panose="020B0604020202020204" pitchFamily="34" charset="0"/>
              </a:rPr>
              <a:t>ID: Unique identifier for the ticket.</a:t>
            </a:r>
          </a:p>
          <a:p>
            <a:pPr lvl="1">
              <a:buClr>
                <a:schemeClr val="accent2"/>
              </a:buClr>
            </a:pPr>
            <a:r>
              <a:rPr lang="en-US" sz="1600" dirty="0">
                <a:latin typeface="Arial" panose="020B0604020202020204" pitchFamily="34" charset="0"/>
                <a:cs typeface="Arial" panose="020B0604020202020204" pitchFamily="34" charset="0"/>
              </a:rPr>
              <a:t>Ticket Fecha: Date of the ticket.</a:t>
            </a:r>
          </a:p>
          <a:p>
            <a:pPr lvl="1">
              <a:buClr>
                <a:schemeClr val="accent2"/>
              </a:buClr>
            </a:pPr>
            <a:r>
              <a:rPr lang="en-US" sz="1600" dirty="0">
                <a:latin typeface="Arial" panose="020B0604020202020204" pitchFamily="34" charset="0"/>
                <a:cs typeface="Arial" panose="020B0604020202020204" pitchFamily="34" charset="0"/>
              </a:rPr>
              <a:t>Employee ID: ID of the employee who raised the ticket.</a:t>
            </a:r>
          </a:p>
          <a:p>
            <a:pPr lvl="1">
              <a:buClr>
                <a:schemeClr val="accent2"/>
              </a:buClr>
            </a:pPr>
            <a:r>
              <a:rPr lang="en-US" sz="1600" dirty="0">
                <a:latin typeface="Arial" panose="020B0604020202020204" pitchFamily="34" charset="0"/>
                <a:cs typeface="Arial" panose="020B0604020202020204" pitchFamily="34" charset="0"/>
              </a:rPr>
              <a:t>Agent ID: ID of the agent assigned to the ticket.</a:t>
            </a:r>
          </a:p>
          <a:p>
            <a:pPr lvl="1">
              <a:buClr>
                <a:schemeClr val="accent2"/>
              </a:buClr>
            </a:pPr>
            <a:r>
              <a:rPr lang="en-US" sz="1600" dirty="0">
                <a:latin typeface="Arial" panose="020B0604020202020204" pitchFamily="34" charset="0"/>
                <a:cs typeface="Arial" panose="020B0604020202020204" pitchFamily="34" charset="0"/>
              </a:rPr>
              <a:t>Request Category: Category of the request (e.g., Login Access, System, Software).</a:t>
            </a:r>
          </a:p>
          <a:p>
            <a:pPr lvl="1">
              <a:buClr>
                <a:schemeClr val="accent2"/>
              </a:buClr>
            </a:pPr>
            <a:r>
              <a:rPr lang="en-US" sz="1600" dirty="0">
                <a:latin typeface="Arial" panose="020B0604020202020204" pitchFamily="34" charset="0"/>
                <a:cs typeface="Arial" panose="020B0604020202020204" pitchFamily="34" charset="0"/>
              </a:rPr>
              <a:t>Issue Type: Type of issue (e.g., IT Error, IT Request).</a:t>
            </a:r>
          </a:p>
          <a:p>
            <a:pPr lvl="1">
              <a:buClr>
                <a:schemeClr val="accent2"/>
              </a:buClr>
            </a:pPr>
            <a:r>
              <a:rPr lang="en-US" sz="1600" dirty="0">
                <a:latin typeface="Arial" panose="020B0604020202020204" pitchFamily="34" charset="0"/>
                <a:cs typeface="Arial" panose="020B0604020202020204" pitchFamily="34" charset="0"/>
              </a:rPr>
              <a:t>Severity: Severity of the issue.</a:t>
            </a:r>
          </a:p>
          <a:p>
            <a:pPr lvl="1">
              <a:buClr>
                <a:schemeClr val="accent2"/>
              </a:buClr>
            </a:pPr>
            <a:r>
              <a:rPr lang="en-US" sz="1600" dirty="0">
                <a:latin typeface="Arial" panose="020B0604020202020204" pitchFamily="34" charset="0"/>
                <a:cs typeface="Arial" panose="020B0604020202020204" pitchFamily="34" charset="0"/>
              </a:rPr>
              <a:t>Priority: Priority level of the issue.</a:t>
            </a:r>
          </a:p>
        </p:txBody>
      </p:sp>
      <p:sp>
        <p:nvSpPr>
          <p:cNvPr id="7" name="Text Placeholder 9">
            <a:extLst>
              <a:ext uri="{FF2B5EF4-FFF2-40B4-BE49-F238E27FC236}">
                <a16:creationId xmlns:a16="http://schemas.microsoft.com/office/drawing/2014/main" id="{20500B60-68D5-A8DA-3B75-8B483A3CCD44}"/>
              </a:ext>
            </a:extLst>
          </p:cNvPr>
          <p:cNvSpPr txBox="1">
            <a:spLocks/>
          </p:cNvSpPr>
          <p:nvPr/>
        </p:nvSpPr>
        <p:spPr>
          <a:xfrm>
            <a:off x="5697819" y="2199120"/>
            <a:ext cx="4746065" cy="4550596"/>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600" dirty="0">
                <a:solidFill>
                  <a:srgbClr val="FFFFFF"/>
                </a:solidFill>
                <a:latin typeface="Arial"/>
              </a:rPr>
              <a:t>Resolution Time (Days): Time taken to resolve the ticket.</a:t>
            </a:r>
          </a:p>
          <a:p>
            <a:pPr lvl="1"/>
            <a:r>
              <a:rPr lang="en-US" sz="1600" dirty="0">
                <a:solidFill>
                  <a:srgbClr val="FFFFFF"/>
                </a:solidFill>
                <a:latin typeface="Arial"/>
              </a:rPr>
              <a:t>Satisfaction Rate: Satisfaction rate provided by the employee (1-5 scale).</a:t>
            </a:r>
            <a:endParaRPr lang="en-US" dirty="0">
              <a:solidFill>
                <a:srgbClr val="FFFFFF"/>
              </a:solidFill>
              <a:latin typeface="Arial"/>
            </a:endParaRPr>
          </a:p>
          <a:p>
            <a:pPr>
              <a:buFont typeface="Wingdings" panose="05000000000000000000" pitchFamily="2" charset="2"/>
              <a:buChar char="q"/>
            </a:pPr>
            <a:r>
              <a:rPr lang="en-US" sz="1800" dirty="0">
                <a:solidFill>
                  <a:srgbClr val="FFFFFF"/>
                </a:solidFill>
                <a:latin typeface="Arial"/>
              </a:rPr>
              <a:t>IT Agents Sheet : Contains information about IT agents.</a:t>
            </a:r>
          </a:p>
          <a:p>
            <a:pPr lvl="1"/>
            <a:r>
              <a:rPr lang="en-US" sz="1600" dirty="0">
                <a:solidFill>
                  <a:srgbClr val="FFFFFF"/>
                </a:solidFill>
                <a:latin typeface="Arial"/>
              </a:rPr>
              <a:t>Agent ID: Unique identifier for the agent.</a:t>
            </a:r>
          </a:p>
          <a:p>
            <a:pPr lvl="1"/>
            <a:r>
              <a:rPr lang="en-US" sz="1600" dirty="0">
                <a:solidFill>
                  <a:srgbClr val="FFFFFF"/>
                </a:solidFill>
                <a:latin typeface="Arial"/>
              </a:rPr>
              <a:t>Full Name: Full name of the agent.</a:t>
            </a:r>
          </a:p>
          <a:p>
            <a:pPr lvl="1"/>
            <a:r>
              <a:rPr lang="en-US" sz="1600" dirty="0">
                <a:solidFill>
                  <a:srgbClr val="FFFFFF"/>
                </a:solidFill>
                <a:latin typeface="Arial"/>
              </a:rPr>
              <a:t>Email: Email address of the agent.</a:t>
            </a:r>
          </a:p>
          <a:p>
            <a:pPr lvl="1"/>
            <a:r>
              <a:rPr lang="en-US" sz="1600" dirty="0">
                <a:solidFill>
                  <a:srgbClr val="FFFFFF"/>
                </a:solidFill>
                <a:latin typeface="Arial"/>
              </a:rPr>
              <a:t>Year of Birth: Year the agent was born.</a:t>
            </a:r>
          </a:p>
          <a:p>
            <a:pPr lvl="1"/>
            <a:r>
              <a:rPr lang="en-US" sz="1600" dirty="0">
                <a:solidFill>
                  <a:srgbClr val="FFFFFF"/>
                </a:solidFill>
                <a:latin typeface="Arial"/>
              </a:rPr>
              <a:t>Month of Birth: Month the agent was born.</a:t>
            </a:r>
          </a:p>
          <a:p>
            <a:pPr lvl="1"/>
            <a:r>
              <a:rPr lang="en-US" sz="1600" dirty="0">
                <a:solidFill>
                  <a:srgbClr val="FFFFFF"/>
                </a:solidFill>
                <a:latin typeface="Arial"/>
              </a:rPr>
              <a:t>Day of Birth: Day the agent was born.</a:t>
            </a:r>
          </a:p>
        </p:txBody>
      </p:sp>
      <p:sp>
        <p:nvSpPr>
          <p:cNvPr id="8" name="Rectangle 7"/>
          <p:cNvSpPr/>
          <p:nvPr/>
        </p:nvSpPr>
        <p:spPr>
          <a:xfrm>
            <a:off x="625642" y="2014454"/>
            <a:ext cx="2392001" cy="369332"/>
          </a:xfrm>
          <a:prstGeom prst="rect">
            <a:avLst/>
          </a:prstGeom>
        </p:spPr>
        <p:txBody>
          <a:bodyPr wrap="none">
            <a:spAutoFit/>
          </a:bodyPr>
          <a:lstStyle/>
          <a:p>
            <a:pPr>
              <a:buClr>
                <a:schemeClr val="accent2"/>
              </a:buClr>
              <a:buFont typeface="Wingdings" panose="05000000000000000000" pitchFamily="2" charset="2"/>
              <a:buChar char="q"/>
            </a:pPr>
            <a:r>
              <a:rPr lang="en-US" dirty="0">
                <a:latin typeface="Arial" panose="020B0604020202020204" pitchFamily="34" charset="0"/>
                <a:cs typeface="Arial" panose="020B0604020202020204" pitchFamily="34" charset="0"/>
              </a:rPr>
              <a:t>Total Ticket: 97498</a:t>
            </a:r>
          </a:p>
        </p:txBody>
      </p:sp>
    </p:spTree>
    <p:extLst>
      <p:ext uri="{BB962C8B-B14F-4D97-AF65-F5344CB8AC3E}">
        <p14:creationId xmlns:p14="http://schemas.microsoft.com/office/powerpoint/2010/main" val="4014292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1078" y="802338"/>
            <a:ext cx="6873240" cy="1600200"/>
          </a:xfrm>
        </p:spPr>
        <p:txBody>
          <a:bodyPr>
            <a:normAutofit/>
          </a:bodyPr>
          <a:lstStyle/>
          <a:p>
            <a:r>
              <a:rPr lang="en-US" b="1" dirty="0"/>
              <a:t>Metric 1: “Ticket Count by Time (Year)”</a:t>
            </a:r>
            <a:endParaRPr lang="en-IN" b="1" dirty="0"/>
          </a:p>
        </p:txBody>
      </p:sp>
      <p:sp>
        <p:nvSpPr>
          <p:cNvPr id="6" name="Text Placeholder 5"/>
          <p:cNvSpPr>
            <a:spLocks noGrp="1"/>
          </p:cNvSpPr>
          <p:nvPr>
            <p:ph type="body" sz="half" idx="2"/>
          </p:nvPr>
        </p:nvSpPr>
        <p:spPr>
          <a:xfrm>
            <a:off x="701078" y="2563299"/>
            <a:ext cx="6873240" cy="3986463"/>
          </a:xfrm>
        </p:spPr>
        <p:txBody>
          <a:bodyPr>
            <a:normAutofit/>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tracks the total number of tickets created each year.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 helps in understanding year-over-year trends and analyzing ticket volumes over long periods</a:t>
            </a:r>
            <a:r>
              <a:rPr lang="en-US" dirty="0" smtClean="0">
                <a:latin typeface="Arial" panose="020B0604020202020204" pitchFamily="34" charset="0"/>
                <a:cs typeface="Arial" panose="020B0604020202020204" pitchFamily="34" charset="0"/>
              </a:rPr>
              <a:t>.</a:t>
            </a:r>
          </a:p>
          <a:p>
            <a:pPr>
              <a:buClr>
                <a:schemeClr val="accent2"/>
              </a:buClr>
            </a:pPr>
            <a:endParaRPr lang="en-US" dirty="0" smtClean="0">
              <a:latin typeface="Arial" panose="020B0604020202020204" pitchFamily="34" charset="0"/>
              <a:cs typeface="Arial" panose="020B0604020202020204" pitchFamily="34" charset="0"/>
            </a:endParaRPr>
          </a:p>
          <a:p>
            <a:pPr>
              <a:buClr>
                <a:schemeClr val="accent2"/>
              </a:buClr>
            </a:pPr>
            <a:r>
              <a:rPr lang="en-US" sz="2800" dirty="0" smtClean="0">
                <a:latin typeface="Arial" panose="020B0604020202020204" pitchFamily="34" charset="0"/>
                <a:cs typeface="Arial" panose="020B0604020202020204" pitchFamily="34" charset="0"/>
              </a:rPr>
              <a:t>Analysis</a:t>
            </a:r>
            <a:r>
              <a:rPr lang="en-US" sz="3200"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chart shows a consistent year-over-year increase in the total number of tickets created from 2016 to 2020.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ticket volume has grown steadily, with significant growth observed between 2019 (21,490) and 2020 (29,088), indicating an accelerating trend in ticket creation.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growth could reflect expanding operations, increased demand, or enhanced reporting mechanisms.</a:t>
            </a:r>
          </a:p>
          <a:p>
            <a:pPr>
              <a:buClr>
                <a:schemeClr val="accent2"/>
              </a:buClr>
            </a:pPr>
            <a:endParaRPr lang="en-IN" dirty="0"/>
          </a:p>
        </p:txBody>
      </p:sp>
      <p:graphicFrame>
        <p:nvGraphicFramePr>
          <p:cNvPr id="7" name="1">
            <a:extLst>
              <a:ext uri="{FF2B5EF4-FFF2-40B4-BE49-F238E27FC236}">
                <a16:creationId xmlns:a16="http://schemas.microsoft.com/office/drawing/2014/main" id="{1F45F6DE-14B0-4BA6-AC2B-CABEB28A0F34}"/>
              </a:ext>
            </a:extLst>
          </p:cNvPr>
          <p:cNvGraphicFramePr>
            <a:graphicFrameLocks noGrp="1"/>
          </p:cNvGraphicFramePr>
          <p:nvPr>
            <p:ph type="pic" idx="1"/>
            <p:extLst>
              <p:ext uri="{D42A27DB-BD31-4B8C-83A1-F6EECF244321}">
                <p14:modId xmlns:p14="http://schemas.microsoft.com/office/powerpoint/2010/main" val="2002530264"/>
              </p:ext>
            </p:extLst>
          </p:nvPr>
        </p:nvGraphicFramePr>
        <p:xfrm>
          <a:off x="7414661" y="779916"/>
          <a:ext cx="4391526" cy="5467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18125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442" y="922420"/>
            <a:ext cx="6873240" cy="1600200"/>
          </a:xfrm>
        </p:spPr>
        <p:txBody>
          <a:bodyPr/>
          <a:lstStyle/>
          <a:p>
            <a:r>
              <a:rPr lang="en-US" b="1" dirty="0"/>
              <a:t>Metric 2: “Tickets by Request Category”</a:t>
            </a:r>
            <a:r>
              <a:rPr lang="en-US" dirty="0"/>
              <a:t/>
            </a:r>
            <a:br>
              <a:rPr lang="en-US" dirty="0"/>
            </a:br>
            <a:endParaRPr lang="en-IN" dirty="0"/>
          </a:p>
        </p:txBody>
      </p:sp>
      <p:sp>
        <p:nvSpPr>
          <p:cNvPr id="4" name="Text Placeholder 3"/>
          <p:cNvSpPr>
            <a:spLocks noGrp="1"/>
          </p:cNvSpPr>
          <p:nvPr>
            <p:ph type="body" sz="half" idx="2"/>
          </p:nvPr>
        </p:nvSpPr>
        <p:spPr>
          <a:xfrm>
            <a:off x="4740442" y="2161673"/>
            <a:ext cx="6873240" cy="4466085"/>
          </a:xfrm>
        </p:spPr>
        <p:txBody>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Tickets are grouped into predefined categories such as Hardware, Login Access, Software, and System, and the count is determined for each.</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shows which category generates the highest or lowest number of requests, allowing </a:t>
            </a:r>
            <a:r>
              <a:rPr lang="en-US" dirty="0" smtClean="0">
                <a:latin typeface="Arial" panose="020B0604020202020204" pitchFamily="34" charset="0"/>
                <a:cs typeface="Arial" panose="020B0604020202020204" pitchFamily="34" charset="0"/>
              </a:rPr>
              <a:t>for </a:t>
            </a:r>
            <a:r>
              <a:rPr lang="en-US" dirty="0">
                <a:latin typeface="Arial" panose="020B0604020202020204" pitchFamily="34" charset="0"/>
                <a:cs typeface="Arial" panose="020B0604020202020204" pitchFamily="34" charset="0"/>
              </a:rPr>
              <a:t>better resource allocation</a:t>
            </a:r>
            <a:r>
              <a:rPr lang="en-US" dirty="0" smtClean="0">
                <a:latin typeface="Arial" panose="020B0604020202020204" pitchFamily="34" charset="0"/>
                <a:cs typeface="Arial" panose="020B0604020202020204" pitchFamily="34" charset="0"/>
              </a:rPr>
              <a:t>.</a:t>
            </a:r>
          </a:p>
          <a:p>
            <a:pPr marL="285750" indent="-285750">
              <a:buClr>
                <a:schemeClr val="accent2"/>
              </a:buClr>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lvl="0">
              <a:buClr>
                <a:srgbClr val="FE801A"/>
              </a:buClr>
            </a:pPr>
            <a:r>
              <a:rPr lang="en-US" sz="2800" dirty="0">
                <a:solidFill>
                  <a:prstClr val="white"/>
                </a:solidFill>
                <a:latin typeface="Arial" panose="020B0604020202020204" pitchFamily="34" charset="0"/>
                <a:cs typeface="Arial" panose="020B0604020202020204" pitchFamily="34" charset="0"/>
              </a:rPr>
              <a:t>Analysis</a:t>
            </a:r>
            <a:r>
              <a:rPr lang="en-US" sz="2800" dirty="0" smtClean="0">
                <a:solidFill>
                  <a:prstClr val="white"/>
                </a:solidFill>
                <a:latin typeface="Arial" panose="020B0604020202020204" pitchFamily="34" charset="0"/>
                <a:cs typeface="Arial" panose="020B0604020202020204" pitchFamily="34" charset="0"/>
              </a:rPr>
              <a:t>:</a:t>
            </a:r>
            <a:endParaRPr lang="en-US" sz="1400" dirty="0" smtClean="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smtClean="0">
                <a:latin typeface="Arial" panose="020B0604020202020204" pitchFamily="34" charset="0"/>
                <a:cs typeface="Arial" panose="020B0604020202020204" pitchFamily="34" charset="0"/>
              </a:rPr>
              <a:t>This </a:t>
            </a:r>
            <a:r>
              <a:rPr lang="en-US" dirty="0">
                <a:latin typeface="Arial" panose="020B0604020202020204" pitchFamily="34" charset="0"/>
                <a:cs typeface="Arial" panose="020B0604020202020204" pitchFamily="34" charset="0"/>
              </a:rPr>
              <a:t>chart indicates that System-related tickets constitute the largest share at 40%, followed by Login Access (30%) and Software (20%), with Hardware having the lowest proportion at 10%.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dominance of System tickets suggests it requires the most resources, while Hardware issues may need less focus.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breakdown can guide targeted resource allocation.</a:t>
            </a:r>
          </a:p>
          <a:p>
            <a:pPr marL="285750" indent="-285750">
              <a:buClr>
                <a:schemeClr val="accent2"/>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p:txBody>
      </p:sp>
      <p:graphicFrame>
        <p:nvGraphicFramePr>
          <p:cNvPr id="6" name="2">
            <a:extLst>
              <a:ext uri="{FF2B5EF4-FFF2-40B4-BE49-F238E27FC236}">
                <a16:creationId xmlns:a16="http://schemas.microsoft.com/office/drawing/2014/main" id="{AE0901B1-1064-40C8-8EE7-47DC57E12A3C}"/>
              </a:ext>
            </a:extLst>
          </p:cNvPr>
          <p:cNvGraphicFramePr>
            <a:graphicFrameLocks/>
          </p:cNvGraphicFramePr>
          <p:nvPr>
            <p:extLst>
              <p:ext uri="{D42A27DB-BD31-4B8C-83A1-F6EECF244321}">
                <p14:modId xmlns:p14="http://schemas.microsoft.com/office/powerpoint/2010/main" val="1466016059"/>
              </p:ext>
            </p:extLst>
          </p:nvPr>
        </p:nvGraphicFramePr>
        <p:xfrm>
          <a:off x="715370" y="1604558"/>
          <a:ext cx="3395018" cy="38570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927737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896813"/>
            <a:ext cx="6873240" cy="1600200"/>
          </a:xfrm>
        </p:spPr>
        <p:txBody>
          <a:bodyPr>
            <a:normAutofit/>
          </a:bodyPr>
          <a:lstStyle/>
          <a:p>
            <a:r>
              <a:rPr lang="en-US" b="1" dirty="0"/>
              <a:t>Metric 3: “Ticket Count by Severity Rate”</a:t>
            </a:r>
            <a:endParaRPr lang="en-IN" b="1" dirty="0"/>
          </a:p>
        </p:txBody>
      </p:sp>
      <p:sp>
        <p:nvSpPr>
          <p:cNvPr id="4" name="Text Placeholder 3"/>
          <p:cNvSpPr>
            <a:spLocks noGrp="1"/>
          </p:cNvSpPr>
          <p:nvPr>
            <p:ph type="body" sz="half" idx="2"/>
          </p:nvPr>
        </p:nvSpPr>
        <p:spPr>
          <a:xfrm>
            <a:off x="685800" y="2642937"/>
            <a:ext cx="6873240" cy="3575748"/>
          </a:xfrm>
        </p:spPr>
        <p:txBody>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groups tickets based on their severity (e.g., 0, 1, 2, 3, 4) and provides the total count for each category.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 highlights the proportion of tickets with varying levels of urgency</a:t>
            </a:r>
            <a:r>
              <a:rPr lang="en-US" dirty="0" smtClean="0">
                <a:latin typeface="Arial" panose="020B0604020202020204" pitchFamily="34" charset="0"/>
                <a:cs typeface="Arial" panose="020B0604020202020204" pitchFamily="34" charset="0"/>
              </a:rPr>
              <a:t>.</a:t>
            </a:r>
          </a:p>
          <a:p>
            <a:pPr>
              <a:buClr>
                <a:schemeClr val="accent2"/>
              </a:buClr>
            </a:pPr>
            <a:endParaRPr lang="en-US" dirty="0">
              <a:latin typeface="Arial" panose="020B0604020202020204" pitchFamily="34" charset="0"/>
              <a:cs typeface="Arial" panose="020B0604020202020204" pitchFamily="34" charset="0"/>
            </a:endParaRPr>
          </a:p>
          <a:p>
            <a:pPr lvl="0">
              <a:buClr>
                <a:srgbClr val="FE801A"/>
              </a:buClr>
            </a:pPr>
            <a:r>
              <a:rPr lang="en-US" sz="2800" dirty="0">
                <a:solidFill>
                  <a:prstClr val="white"/>
                </a:solidFill>
                <a:latin typeface="Arial" panose="020B0604020202020204" pitchFamily="34" charset="0"/>
                <a:cs typeface="Arial" panose="020B0604020202020204" pitchFamily="34" charset="0"/>
              </a:rPr>
              <a:t>Analysis</a:t>
            </a:r>
            <a:r>
              <a:rPr lang="en-US" sz="2800" dirty="0" smtClean="0">
                <a:solidFill>
                  <a:prstClr val="white"/>
                </a:solidFill>
                <a:latin typeface="Arial" panose="020B0604020202020204" pitchFamily="34" charset="0"/>
                <a:cs typeface="Arial" panose="020B0604020202020204" pitchFamily="34" charset="0"/>
              </a:rPr>
              <a:t>:</a:t>
            </a:r>
          </a:p>
          <a:p>
            <a:pPr marL="285750" lvl="0" indent="-285750">
              <a:buClr>
                <a:srgbClr val="FE801A"/>
              </a:buClr>
              <a:buFont typeface="Arial" panose="020B0604020202020204" pitchFamily="34" charset="0"/>
              <a:buChar char="•"/>
            </a:pPr>
            <a:r>
              <a:rPr lang="en-US" dirty="0">
                <a:solidFill>
                  <a:prstClr val="white"/>
                </a:solidFill>
                <a:latin typeface="Arial" panose="020B0604020202020204" pitchFamily="34" charset="0"/>
                <a:cs typeface="Arial" panose="020B0604020202020204" pitchFamily="34" charset="0"/>
              </a:rPr>
              <a:t>This chart shows the distribution of tickets by severity levels, with severity 2 having the highest count (88,656), indicating it is the most common urgency level. </a:t>
            </a:r>
          </a:p>
          <a:p>
            <a:pPr marL="285750" lvl="0" indent="-285750">
              <a:buClr>
                <a:srgbClr val="FE801A"/>
              </a:buClr>
              <a:buFont typeface="Arial" panose="020B0604020202020204" pitchFamily="34" charset="0"/>
              <a:buChar char="•"/>
            </a:pPr>
            <a:r>
              <a:rPr lang="en-US" dirty="0">
                <a:solidFill>
                  <a:prstClr val="white"/>
                </a:solidFill>
                <a:latin typeface="Arial" panose="020B0604020202020204" pitchFamily="34" charset="0"/>
                <a:cs typeface="Arial" panose="020B0604020202020204" pitchFamily="34" charset="0"/>
              </a:rPr>
              <a:t>Severities 3 (4,836) and 1 (2,258) follow, while severities 0 (356) and 4 (1,392) are comparatively rare, suggesting that most tickets fall into mid-level urgency.</a:t>
            </a:r>
          </a:p>
          <a:p>
            <a:pPr lvl="0">
              <a:buClr>
                <a:srgbClr val="FE801A"/>
              </a:buClr>
            </a:pPr>
            <a:endParaRPr lang="en-US" dirty="0" smtClean="0">
              <a:solidFill>
                <a:prstClr val="white"/>
              </a:solidFill>
              <a:latin typeface="Arial" panose="020B0604020202020204" pitchFamily="34" charset="0"/>
              <a:cs typeface="Arial" panose="020B0604020202020204" pitchFamily="34" charset="0"/>
            </a:endParaRPr>
          </a:p>
          <a:p>
            <a:endParaRPr lang="en-IN" dirty="0"/>
          </a:p>
        </p:txBody>
      </p:sp>
      <p:graphicFrame>
        <p:nvGraphicFramePr>
          <p:cNvPr id="5" name="6">
            <a:extLst>
              <a:ext uri="{FF2B5EF4-FFF2-40B4-BE49-F238E27FC236}">
                <a16:creationId xmlns:a16="http://schemas.microsoft.com/office/drawing/2014/main" id="{44382C25-752D-446E-A097-36AA76124C6E}"/>
              </a:ext>
            </a:extLst>
          </p:cNvPr>
          <p:cNvGraphicFramePr>
            <a:graphicFrameLocks noGrp="1"/>
          </p:cNvGraphicFramePr>
          <p:nvPr>
            <p:ph type="pic" idx="1"/>
            <p:extLst>
              <p:ext uri="{D42A27DB-BD31-4B8C-83A1-F6EECF244321}">
                <p14:modId xmlns:p14="http://schemas.microsoft.com/office/powerpoint/2010/main" val="452362783"/>
              </p:ext>
            </p:extLst>
          </p:nvPr>
        </p:nvGraphicFramePr>
        <p:xfrm>
          <a:off x="7559040" y="750888"/>
          <a:ext cx="4139474" cy="5467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777802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1127" y="791792"/>
            <a:ext cx="6873240" cy="1600200"/>
          </a:xfrm>
        </p:spPr>
        <p:txBody>
          <a:bodyPr/>
          <a:lstStyle/>
          <a:p>
            <a:r>
              <a:rPr lang="en-US" b="1" dirty="0"/>
              <a:t>Metric 4: “Tickets by Priority”</a:t>
            </a:r>
            <a:r>
              <a:rPr lang="en-US" sz="2800" b="1" dirty="0"/>
              <a:t/>
            </a:r>
            <a:br>
              <a:rPr lang="en-US" sz="2800" b="1" dirty="0"/>
            </a:br>
            <a:r>
              <a:rPr lang="en-US" dirty="0" smtClean="0"/>
              <a:t/>
            </a:r>
            <a:br>
              <a:rPr lang="en-US" dirty="0" smtClean="0"/>
            </a:br>
            <a:endParaRPr lang="en-IN" dirty="0"/>
          </a:p>
        </p:txBody>
      </p:sp>
      <p:sp>
        <p:nvSpPr>
          <p:cNvPr id="4" name="Text Placeholder 3"/>
          <p:cNvSpPr>
            <a:spLocks noGrp="1"/>
          </p:cNvSpPr>
          <p:nvPr>
            <p:ph type="body" sz="half" idx="2"/>
          </p:nvPr>
        </p:nvSpPr>
        <p:spPr>
          <a:xfrm>
            <a:off x="4421127" y="1871373"/>
            <a:ext cx="6873240" cy="4466085"/>
          </a:xfrm>
        </p:spPr>
        <p:txBody>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categorizes tickets based on their assigned priority levels (e.g., 0, 1, 2, 3) and tracks the total count in each category.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 identifies the tickets requiring immediate attention</a:t>
            </a:r>
            <a:r>
              <a:rPr lang="en-US" dirty="0" smtClean="0">
                <a:latin typeface="Arial" panose="020B0604020202020204" pitchFamily="34" charset="0"/>
                <a:cs typeface="Arial" panose="020B0604020202020204" pitchFamily="34" charset="0"/>
              </a:rPr>
              <a:t>.</a:t>
            </a:r>
          </a:p>
          <a:p>
            <a:pPr>
              <a:buClr>
                <a:schemeClr val="accent2"/>
              </a:buClr>
            </a:pPr>
            <a:endParaRPr lang="en-US" dirty="0">
              <a:latin typeface="Arial" panose="020B0604020202020204" pitchFamily="34" charset="0"/>
              <a:cs typeface="Arial" panose="020B0604020202020204" pitchFamily="34" charset="0"/>
            </a:endParaRPr>
          </a:p>
          <a:p>
            <a:pPr lvl="0">
              <a:buClr>
                <a:srgbClr val="FE801A"/>
              </a:buClr>
            </a:pPr>
            <a:r>
              <a:rPr lang="en-US" sz="2800" dirty="0" smtClean="0">
                <a:solidFill>
                  <a:prstClr val="white"/>
                </a:solidFill>
                <a:latin typeface="Arial" panose="020B0604020202020204" pitchFamily="34" charset="0"/>
                <a:cs typeface="Arial" panose="020B0604020202020204" pitchFamily="34" charset="0"/>
              </a:rPr>
              <a:t>Analysis</a:t>
            </a:r>
            <a:r>
              <a:rPr lang="en-US" sz="3200" dirty="0" smtClean="0">
                <a:solidFill>
                  <a:prstClr val="white"/>
                </a:solidFill>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chart depicts the distribution of tickets by priority level. Priority 3 has the highest count (35,549), indicating the largest number of tickets requiring immediate attention.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Priorities 0 (29,410) and 1 (16,694) follow, while priority 2 (15,845) has the smallest share.</a:t>
            </a:r>
          </a:p>
          <a:p>
            <a:pPr marL="285750" indent="-285750">
              <a:buClr>
                <a:schemeClr val="accent2"/>
              </a:buClr>
              <a:buFont typeface="Arial" panose="020B0604020202020204" pitchFamily="34" charset="0"/>
              <a:buChar char="•"/>
            </a:pPr>
            <a:endParaRPr lang="en-IN" dirty="0">
              <a:latin typeface="Arial" panose="020B0604020202020204" pitchFamily="34" charset="0"/>
              <a:cs typeface="Arial" panose="020B0604020202020204" pitchFamily="34" charset="0"/>
            </a:endParaRPr>
          </a:p>
        </p:txBody>
      </p:sp>
      <p:graphicFrame>
        <p:nvGraphicFramePr>
          <p:cNvPr id="5" name="7">
            <a:extLst>
              <a:ext uri="{FF2B5EF4-FFF2-40B4-BE49-F238E27FC236}">
                <a16:creationId xmlns:a16="http://schemas.microsoft.com/office/drawing/2014/main" id="{F6A6A1D7-979A-4994-B111-77E6EAF9EFBE}"/>
              </a:ext>
            </a:extLst>
          </p:cNvPr>
          <p:cNvGraphicFramePr>
            <a:graphicFrameLocks/>
          </p:cNvGraphicFramePr>
          <p:nvPr>
            <p:extLst>
              <p:ext uri="{D42A27DB-BD31-4B8C-83A1-F6EECF244321}">
                <p14:modId xmlns:p14="http://schemas.microsoft.com/office/powerpoint/2010/main" val="2304255932"/>
              </p:ext>
            </p:extLst>
          </p:nvPr>
        </p:nvGraphicFramePr>
        <p:xfrm>
          <a:off x="476900" y="1871373"/>
          <a:ext cx="3596864" cy="401416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594737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1078" y="802338"/>
            <a:ext cx="6873240" cy="1600200"/>
          </a:xfrm>
        </p:spPr>
        <p:txBody>
          <a:bodyPr>
            <a:normAutofit/>
          </a:bodyPr>
          <a:lstStyle/>
          <a:p>
            <a:r>
              <a:rPr lang="en-US" b="1" dirty="0"/>
              <a:t>Metric 5: “Distribution of tickets based on satisfaction”</a:t>
            </a:r>
            <a:endParaRPr lang="en-IN" b="1" dirty="0"/>
          </a:p>
        </p:txBody>
      </p:sp>
      <p:sp>
        <p:nvSpPr>
          <p:cNvPr id="6" name="Text Placeholder 5"/>
          <p:cNvSpPr>
            <a:spLocks noGrp="1"/>
          </p:cNvSpPr>
          <p:nvPr>
            <p:ph type="body" sz="half" idx="2"/>
          </p:nvPr>
        </p:nvSpPr>
        <p:spPr>
          <a:xfrm>
            <a:off x="701078" y="2563299"/>
            <a:ext cx="6873240" cy="3986463"/>
          </a:xfrm>
        </p:spPr>
        <p:txBody>
          <a:bodyPr>
            <a:normAutofit/>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metric looks at how tickets are distributed across different customer satisfaction rates.</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For example, tickets may be grouped by satisfaction scores (e.g., 1–5), showing the proportion of satisfied vs. dissatisfied customers.</a:t>
            </a:r>
          </a:p>
          <a:p>
            <a:pPr>
              <a:buClr>
                <a:schemeClr val="accent2"/>
              </a:buClr>
            </a:pPr>
            <a:endParaRPr lang="en-US" dirty="0" smtClean="0">
              <a:latin typeface="Arial" panose="020B0604020202020204" pitchFamily="34" charset="0"/>
              <a:cs typeface="Arial" panose="020B0604020202020204" pitchFamily="34" charset="0"/>
            </a:endParaRPr>
          </a:p>
          <a:p>
            <a:pPr>
              <a:buClr>
                <a:schemeClr val="accent2"/>
              </a:buClr>
            </a:pPr>
            <a:r>
              <a:rPr lang="en-US" sz="2800" dirty="0" smtClean="0">
                <a:latin typeface="Arial" panose="020B0604020202020204" pitchFamily="34" charset="0"/>
                <a:cs typeface="Arial" panose="020B0604020202020204" pitchFamily="34" charset="0"/>
              </a:rPr>
              <a:t>Analysis</a:t>
            </a:r>
            <a:r>
              <a:rPr lang="en-US" sz="3200"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Satisfaction score 5 has the highest number of tickets (50,770), followed by score 4 (27,562), indicating a significant majority of positive feedback.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Lower scores, especially 2 (1,977) and 3 (7,282), represent smaller proportions, suggesting relatively fewer dissatisfied customers.</a:t>
            </a:r>
          </a:p>
          <a:p>
            <a:pPr>
              <a:buClr>
                <a:schemeClr val="accent2"/>
              </a:buClr>
            </a:pPr>
            <a:endParaRPr lang="en-IN" dirty="0"/>
          </a:p>
        </p:txBody>
      </p:sp>
      <p:graphicFrame>
        <p:nvGraphicFramePr>
          <p:cNvPr id="8" name="8">
            <a:extLst>
              <a:ext uri="{FF2B5EF4-FFF2-40B4-BE49-F238E27FC236}">
                <a16:creationId xmlns:a16="http://schemas.microsoft.com/office/drawing/2014/main" id="{F1CA44EB-394F-4D4F-854D-6083B91D0DA3}"/>
              </a:ext>
            </a:extLst>
          </p:cNvPr>
          <p:cNvGraphicFramePr>
            <a:graphicFrameLocks noGrp="1"/>
          </p:cNvGraphicFramePr>
          <p:nvPr>
            <p:ph type="pic" idx="1"/>
            <p:extLst>
              <p:ext uri="{D42A27DB-BD31-4B8C-83A1-F6EECF244321}">
                <p14:modId xmlns:p14="http://schemas.microsoft.com/office/powerpoint/2010/main" val="2518203994"/>
              </p:ext>
            </p:extLst>
          </p:nvPr>
        </p:nvGraphicFramePr>
        <p:xfrm>
          <a:off x="7861300" y="750888"/>
          <a:ext cx="3909786" cy="5467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7267686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1127" y="791792"/>
            <a:ext cx="6873240" cy="1600200"/>
          </a:xfrm>
        </p:spPr>
        <p:txBody>
          <a:bodyPr>
            <a:normAutofit fontScale="90000"/>
          </a:bodyPr>
          <a:lstStyle/>
          <a:p>
            <a:r>
              <a:rPr lang="en-US" dirty="0" smtClean="0"/>
              <a:t/>
            </a:r>
            <a:br>
              <a:rPr lang="en-US" dirty="0" smtClean="0"/>
            </a:br>
            <a:r>
              <a:rPr lang="en-US" sz="2800" b="1" dirty="0"/>
              <a:t>Metric 6: “Average Resolution Time by Request Category Quarterly”</a:t>
            </a:r>
            <a:br>
              <a:rPr lang="en-US" sz="2800" b="1" dirty="0"/>
            </a:br>
            <a:r>
              <a:rPr lang="en-US" sz="2800" b="1" dirty="0"/>
              <a:t/>
            </a:r>
            <a:br>
              <a:rPr lang="en-US" sz="2800" b="1" dirty="0"/>
            </a:br>
            <a:r>
              <a:rPr lang="en-US" dirty="0" smtClean="0"/>
              <a:t/>
            </a:r>
            <a:br>
              <a:rPr lang="en-US" dirty="0" smtClean="0"/>
            </a:br>
            <a:endParaRPr lang="en-IN" dirty="0"/>
          </a:p>
        </p:txBody>
      </p:sp>
      <p:sp>
        <p:nvSpPr>
          <p:cNvPr id="4" name="Text Placeholder 3"/>
          <p:cNvSpPr>
            <a:spLocks noGrp="1"/>
          </p:cNvSpPr>
          <p:nvPr>
            <p:ph type="body" sz="half" idx="2"/>
          </p:nvPr>
        </p:nvSpPr>
        <p:spPr>
          <a:xfrm>
            <a:off x="4421127" y="1871373"/>
            <a:ext cx="6873240" cy="4466085"/>
          </a:xfrm>
        </p:spPr>
        <p:txBody>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chart shows the average resolution time for different request categories (Hardware, Login Access, Software, and System) across four quarters.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 provides a periodic view of resolution efficiency.</a:t>
            </a:r>
          </a:p>
          <a:p>
            <a:pPr>
              <a:buClr>
                <a:schemeClr val="accent2"/>
              </a:buClr>
            </a:pPr>
            <a:endParaRPr lang="en-US" dirty="0">
              <a:latin typeface="Arial" panose="020B0604020202020204" pitchFamily="34" charset="0"/>
              <a:cs typeface="Arial" panose="020B0604020202020204" pitchFamily="34" charset="0"/>
            </a:endParaRPr>
          </a:p>
          <a:p>
            <a:pPr lvl="0">
              <a:buClr>
                <a:srgbClr val="FE801A"/>
              </a:buClr>
            </a:pPr>
            <a:r>
              <a:rPr lang="en-US" sz="2800" dirty="0" smtClean="0">
                <a:solidFill>
                  <a:prstClr val="white"/>
                </a:solidFill>
                <a:latin typeface="Arial" panose="020B0604020202020204" pitchFamily="34" charset="0"/>
                <a:cs typeface="Arial" panose="020B0604020202020204" pitchFamily="34" charset="0"/>
              </a:rPr>
              <a:t>Analysis</a:t>
            </a:r>
            <a:r>
              <a:rPr lang="en-US" sz="3200" dirty="0" smtClean="0">
                <a:solidFill>
                  <a:prstClr val="white"/>
                </a:solidFill>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Hardware consistently takes the longest to resolve (~7.5–7.7 hours), while Login Access is the quickest (~0.3 hours).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Resolution times for Software and System remain steady across quarters at ~5.2–5.3 and ~6.6 hours, respectively, indicating consistent performance in these areas.</a:t>
            </a:r>
          </a:p>
        </p:txBody>
      </p:sp>
      <p:graphicFrame>
        <p:nvGraphicFramePr>
          <p:cNvPr id="5" name="4">
            <a:extLst>
              <a:ext uri="{FF2B5EF4-FFF2-40B4-BE49-F238E27FC236}">
                <a16:creationId xmlns:a16="http://schemas.microsoft.com/office/drawing/2014/main" id="{4FA1AE61-A18D-4DCD-8CD1-0E6D1C97C4D4}"/>
              </a:ext>
            </a:extLst>
          </p:cNvPr>
          <p:cNvGraphicFramePr>
            <a:graphicFrameLocks/>
          </p:cNvGraphicFramePr>
          <p:nvPr>
            <p:extLst>
              <p:ext uri="{D42A27DB-BD31-4B8C-83A1-F6EECF244321}">
                <p14:modId xmlns:p14="http://schemas.microsoft.com/office/powerpoint/2010/main" val="2947979110"/>
              </p:ext>
            </p:extLst>
          </p:nvPr>
        </p:nvGraphicFramePr>
        <p:xfrm>
          <a:off x="103077" y="1956406"/>
          <a:ext cx="4318050" cy="41541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539664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01078" y="802338"/>
            <a:ext cx="6873240" cy="1600200"/>
          </a:xfrm>
        </p:spPr>
        <p:txBody>
          <a:bodyPr>
            <a:normAutofit/>
          </a:bodyPr>
          <a:lstStyle/>
          <a:p>
            <a:r>
              <a:rPr lang="en-US" b="1" dirty="0"/>
              <a:t>Metric 7: “Satisfaction Rate By Time (Year)”</a:t>
            </a:r>
            <a:endParaRPr lang="en-IN" b="1" dirty="0"/>
          </a:p>
        </p:txBody>
      </p:sp>
      <p:sp>
        <p:nvSpPr>
          <p:cNvPr id="6" name="Text Placeholder 5"/>
          <p:cNvSpPr>
            <a:spLocks noGrp="1"/>
          </p:cNvSpPr>
          <p:nvPr>
            <p:ph type="body" sz="half" idx="2"/>
          </p:nvPr>
        </p:nvSpPr>
        <p:spPr>
          <a:xfrm>
            <a:off x="701078" y="2563299"/>
            <a:ext cx="6873240" cy="3986463"/>
          </a:xfrm>
        </p:spPr>
        <p:txBody>
          <a:bodyPr>
            <a:normAutofit/>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measures customer satisfaction rates (e.g., 1-5) and tracks how they change over the years.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It’s useful for identifying long-term trends in customer experience.</a:t>
            </a:r>
          </a:p>
          <a:p>
            <a:pPr>
              <a:buClr>
                <a:schemeClr val="accent2"/>
              </a:buClr>
            </a:pPr>
            <a:endParaRPr lang="en-US" dirty="0" smtClean="0">
              <a:latin typeface="Arial" panose="020B0604020202020204" pitchFamily="34" charset="0"/>
              <a:cs typeface="Arial" panose="020B0604020202020204" pitchFamily="34" charset="0"/>
            </a:endParaRPr>
          </a:p>
          <a:p>
            <a:pPr>
              <a:buClr>
                <a:schemeClr val="accent2"/>
              </a:buClr>
            </a:pPr>
            <a:r>
              <a:rPr lang="en-US" sz="2800" dirty="0" smtClean="0">
                <a:latin typeface="Arial" panose="020B0604020202020204" pitchFamily="34" charset="0"/>
                <a:cs typeface="Arial" panose="020B0604020202020204" pitchFamily="34" charset="0"/>
              </a:rPr>
              <a:t>Analysis</a:t>
            </a:r>
            <a:r>
              <a:rPr lang="en-US" sz="3200"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chart shows a gradual improvement in customer satisfaction rates over the years, starting at 4.0 in 2016 and reaching 4.2 in 2020.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While the increase is modest, it indicates a steady positive trend in customer experience. Maintaining or accelerating this trend could further enhance customer satisfaction.</a:t>
            </a:r>
          </a:p>
          <a:p>
            <a:pPr>
              <a:buClr>
                <a:schemeClr val="accent2"/>
              </a:buClr>
            </a:pPr>
            <a:endParaRPr lang="en-IN" dirty="0"/>
          </a:p>
        </p:txBody>
      </p:sp>
      <p:graphicFrame>
        <p:nvGraphicFramePr>
          <p:cNvPr id="7" name="3">
            <a:extLst>
              <a:ext uri="{FF2B5EF4-FFF2-40B4-BE49-F238E27FC236}">
                <a16:creationId xmlns:a16="http://schemas.microsoft.com/office/drawing/2014/main" id="{26ABDF9E-7E50-42AE-ABAA-3DE4D7EFDDD9}"/>
              </a:ext>
            </a:extLst>
          </p:cNvPr>
          <p:cNvGraphicFramePr>
            <a:graphicFrameLocks noGrp="1"/>
          </p:cNvGraphicFramePr>
          <p:nvPr>
            <p:ph type="pic" idx="1"/>
            <p:extLst>
              <p:ext uri="{D42A27DB-BD31-4B8C-83A1-F6EECF244321}">
                <p14:modId xmlns:p14="http://schemas.microsoft.com/office/powerpoint/2010/main" val="3216872295"/>
              </p:ext>
            </p:extLst>
          </p:nvPr>
        </p:nvGraphicFramePr>
        <p:xfrm>
          <a:off x="7574318" y="750888"/>
          <a:ext cx="4414482" cy="5467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420328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1127" y="791792"/>
            <a:ext cx="6873240" cy="1600200"/>
          </a:xfrm>
        </p:spPr>
        <p:txBody>
          <a:bodyPr>
            <a:normAutofit fontScale="90000"/>
          </a:bodyPr>
          <a:lstStyle/>
          <a:p>
            <a:r>
              <a:rPr lang="en-US" dirty="0"/>
              <a:t/>
            </a:r>
            <a:br>
              <a:rPr lang="en-US" dirty="0"/>
            </a:br>
            <a:r>
              <a:rPr lang="en-US" sz="2800" b="1" dirty="0"/>
              <a:t>Metric 8: “Satisfaction Rate By Age-groups”</a:t>
            </a:r>
            <a:br>
              <a:rPr lang="en-US" sz="2800" b="1" dirty="0"/>
            </a:br>
            <a:r>
              <a:rPr lang="en-US" dirty="0" smtClean="0"/>
              <a:t/>
            </a:r>
            <a:br>
              <a:rPr lang="en-US" dirty="0" smtClean="0"/>
            </a:br>
            <a:endParaRPr lang="en-IN" dirty="0"/>
          </a:p>
        </p:txBody>
      </p:sp>
      <p:sp>
        <p:nvSpPr>
          <p:cNvPr id="4" name="Text Placeholder 3"/>
          <p:cNvSpPr>
            <a:spLocks noGrp="1"/>
          </p:cNvSpPr>
          <p:nvPr>
            <p:ph type="body" sz="half" idx="2"/>
          </p:nvPr>
        </p:nvSpPr>
        <p:spPr>
          <a:xfrm>
            <a:off x="4421127" y="1871373"/>
            <a:ext cx="6873240" cy="4466085"/>
          </a:xfrm>
        </p:spPr>
        <p:txBody>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analyzes satisfaction rates across different agent age groups (e.g., 28–31, 32–35, etc.).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It identifies how satisfaction levels differ based on demographic factors.</a:t>
            </a:r>
          </a:p>
          <a:p>
            <a:pPr>
              <a:buClr>
                <a:schemeClr val="accent2"/>
              </a:buClr>
            </a:pPr>
            <a:endParaRPr lang="en-US" dirty="0">
              <a:latin typeface="Arial" panose="020B0604020202020204" pitchFamily="34" charset="0"/>
              <a:cs typeface="Arial" panose="020B0604020202020204" pitchFamily="34" charset="0"/>
            </a:endParaRPr>
          </a:p>
          <a:p>
            <a:pPr lvl="0">
              <a:buClr>
                <a:srgbClr val="FE801A"/>
              </a:buClr>
            </a:pPr>
            <a:r>
              <a:rPr lang="en-US" sz="2800" dirty="0" smtClean="0">
                <a:solidFill>
                  <a:prstClr val="white"/>
                </a:solidFill>
                <a:latin typeface="Arial" panose="020B0604020202020204" pitchFamily="34" charset="0"/>
                <a:cs typeface="Arial" panose="020B0604020202020204" pitchFamily="34" charset="0"/>
              </a:rPr>
              <a:t>Analysis</a:t>
            </a:r>
            <a:r>
              <a:rPr lang="en-US" sz="3200" dirty="0" smtClean="0">
                <a:solidFill>
                  <a:prstClr val="white"/>
                </a:solidFill>
                <a:latin typeface="Arial" panose="020B0604020202020204" pitchFamily="34" charset="0"/>
                <a:cs typeface="Arial" panose="020B0604020202020204" pitchFamily="34" charset="0"/>
              </a:rPr>
              <a:t>:</a:t>
            </a:r>
            <a:endParaRPr lang="en-US" dirty="0" smtClean="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52–55 age group shows the highest satisfaction rate at 4.4, while the 40–43 age group has the lowest at 3.9.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Younger and middle-aged groups (28–31 and 36–39) also report relatively higher satisfaction rates, indicating that older and younger demographics may have different expectations or experiences</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graphicFrame>
        <p:nvGraphicFramePr>
          <p:cNvPr id="6" name="5">
            <a:extLst>
              <a:ext uri="{FF2B5EF4-FFF2-40B4-BE49-F238E27FC236}">
                <a16:creationId xmlns:a16="http://schemas.microsoft.com/office/drawing/2014/main" id="{957D18C2-F829-43DF-8D5B-0742E7C84B69}"/>
              </a:ext>
            </a:extLst>
          </p:cNvPr>
          <p:cNvGraphicFramePr>
            <a:graphicFrameLocks/>
          </p:cNvGraphicFramePr>
          <p:nvPr>
            <p:extLst>
              <p:ext uri="{D42A27DB-BD31-4B8C-83A1-F6EECF244321}">
                <p14:modId xmlns:p14="http://schemas.microsoft.com/office/powerpoint/2010/main" val="3868777123"/>
              </p:ext>
            </p:extLst>
          </p:nvPr>
        </p:nvGraphicFramePr>
        <p:xfrm>
          <a:off x="112041" y="1741714"/>
          <a:ext cx="4309086" cy="39347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31730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59674" y="1098312"/>
            <a:ext cx="6873240" cy="1600200"/>
          </a:xfrm>
        </p:spPr>
        <p:txBody>
          <a:bodyPr>
            <a:normAutofit/>
          </a:bodyPr>
          <a:lstStyle/>
          <a:p>
            <a:r>
              <a:rPr lang="en-US" b="1" dirty="0"/>
              <a:t>Metric 9: “Distribution Of Tickets Based On Resolution Time”</a:t>
            </a:r>
            <a:endParaRPr lang="en-IN" b="1" dirty="0"/>
          </a:p>
        </p:txBody>
      </p:sp>
      <p:sp>
        <p:nvSpPr>
          <p:cNvPr id="6" name="Text Placeholder 5"/>
          <p:cNvSpPr>
            <a:spLocks noGrp="1"/>
          </p:cNvSpPr>
          <p:nvPr>
            <p:ph type="body" sz="half" idx="2"/>
          </p:nvPr>
        </p:nvSpPr>
        <p:spPr>
          <a:xfrm>
            <a:off x="659674" y="2886052"/>
            <a:ext cx="6350726" cy="3819549"/>
          </a:xfrm>
        </p:spPr>
        <p:txBody>
          <a:bodyPr>
            <a:normAutofit/>
          </a:bodyPr>
          <a:lstStyle/>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This shows how efficiently tickets are resolved and highlights areas for process improvement.</a:t>
            </a:r>
          </a:p>
          <a:p>
            <a:pPr>
              <a:buClr>
                <a:schemeClr val="accent2"/>
              </a:buClr>
            </a:pPr>
            <a:endParaRPr lang="en-US" dirty="0" smtClean="0">
              <a:latin typeface="Arial" panose="020B0604020202020204" pitchFamily="34" charset="0"/>
              <a:cs typeface="Arial" panose="020B0604020202020204" pitchFamily="34" charset="0"/>
            </a:endParaRPr>
          </a:p>
          <a:p>
            <a:pPr>
              <a:buClr>
                <a:schemeClr val="accent2"/>
              </a:buClr>
            </a:pPr>
            <a:r>
              <a:rPr lang="en-US" sz="2800" dirty="0" smtClean="0">
                <a:latin typeface="Arial" panose="020B0604020202020204" pitchFamily="34" charset="0"/>
                <a:cs typeface="Arial" panose="020B0604020202020204" pitchFamily="34" charset="0"/>
              </a:rPr>
              <a:t>Analysis</a:t>
            </a:r>
            <a:r>
              <a:rPr lang="en-US" sz="3200"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The chart indicates that a majority of tickets (over 25,000) are resolved on the same day (0 days), showcasing strong efficiency in immediate resolution.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However, a significant number of tickets take longer, with noticeable peaks around 1, 5, and 6 days, suggesting possible bottlenecks or complex cases requiring more time. </a:t>
            </a:r>
          </a:p>
          <a:p>
            <a:pPr marL="285750" indent="-285750">
              <a:buClr>
                <a:schemeClr val="accent2"/>
              </a:buClr>
              <a:buFont typeface="Arial" panose="020B0604020202020204" pitchFamily="34" charset="0"/>
              <a:buChar char="•"/>
            </a:pPr>
            <a:r>
              <a:rPr lang="en-US" dirty="0">
                <a:latin typeface="Arial" panose="020B0604020202020204" pitchFamily="34" charset="0"/>
                <a:cs typeface="Arial" panose="020B0604020202020204" pitchFamily="34" charset="0"/>
              </a:rPr>
              <a:t>Process improvements could focus on reducing resolution times beyond the first day to enhance overall efficiency</a:t>
            </a:r>
            <a:r>
              <a:rPr lang="en-US" dirty="0" smtClean="0">
                <a:latin typeface="Arial" panose="020B0604020202020204" pitchFamily="34" charset="0"/>
                <a:cs typeface="Arial" panose="020B0604020202020204" pitchFamily="34" charset="0"/>
              </a:rPr>
              <a:t>.</a:t>
            </a:r>
          </a:p>
          <a:p>
            <a:pPr>
              <a:buClr>
                <a:schemeClr val="accent2"/>
              </a:buClr>
            </a:pPr>
            <a:endParaRPr lang="en-IN" dirty="0"/>
          </a:p>
        </p:txBody>
      </p:sp>
      <p:graphicFrame>
        <p:nvGraphicFramePr>
          <p:cNvPr id="7" name="9">
            <a:extLst>
              <a:ext uri="{FF2B5EF4-FFF2-40B4-BE49-F238E27FC236}">
                <a16:creationId xmlns:a16="http://schemas.microsoft.com/office/drawing/2014/main" id="{45C7B0B3-6F09-4687-A378-58871C5664E8}"/>
              </a:ext>
            </a:extLst>
          </p:cNvPr>
          <p:cNvGraphicFramePr>
            <a:graphicFrameLocks noGrp="1"/>
          </p:cNvGraphicFramePr>
          <p:nvPr>
            <p:ph type="pic" idx="1"/>
            <p:extLst>
              <p:ext uri="{D42A27DB-BD31-4B8C-83A1-F6EECF244321}">
                <p14:modId xmlns:p14="http://schemas.microsoft.com/office/powerpoint/2010/main" val="3225100612"/>
              </p:ext>
            </p:extLst>
          </p:nvPr>
        </p:nvGraphicFramePr>
        <p:xfrm>
          <a:off x="7010400" y="2510971"/>
          <a:ext cx="5080000" cy="370726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389783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32857" y="901532"/>
            <a:ext cx="8610600" cy="1293028"/>
          </a:xfrm>
        </p:spPr>
        <p:txBody>
          <a:bodyPr>
            <a:normAutofit/>
          </a:bodyPr>
          <a:lstStyle/>
          <a:p>
            <a:pPr algn="ctr"/>
            <a:r>
              <a:rPr lang="en-IN" sz="4400" b="1" dirty="0"/>
              <a:t>Dashboard</a:t>
            </a:r>
          </a:p>
        </p:txBody>
      </p:sp>
      <p:pic>
        <p:nvPicPr>
          <p:cNvPr id="2" name="Content Placeholder 1"/>
          <p:cNvPicPr>
            <a:picLocks noGrp="1" noChangeAspect="1"/>
          </p:cNvPicPr>
          <p:nvPr>
            <p:ph idx="1"/>
          </p:nvPr>
        </p:nvPicPr>
        <p:blipFill>
          <a:blip r:embed="rId2"/>
          <a:stretch>
            <a:fillRect/>
          </a:stretch>
        </p:blipFill>
        <p:spPr>
          <a:xfrm>
            <a:off x="1080982" y="2193925"/>
            <a:ext cx="10030036" cy="4024313"/>
          </a:xfrm>
          <a:prstGeom prst="rect">
            <a:avLst/>
          </a:prstGeom>
        </p:spPr>
      </p:pic>
    </p:spTree>
    <p:extLst>
      <p:ext uri="{BB962C8B-B14F-4D97-AF65-F5344CB8AC3E}">
        <p14:creationId xmlns:p14="http://schemas.microsoft.com/office/powerpoint/2010/main" val="9541166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Conclusion on Key Metric</a:t>
            </a:r>
          </a:p>
        </p:txBody>
      </p:sp>
      <p:sp>
        <p:nvSpPr>
          <p:cNvPr id="3" name="Content Placeholder 2"/>
          <p:cNvSpPr>
            <a:spLocks noGrp="1"/>
          </p:cNvSpPr>
          <p:nvPr>
            <p:ph idx="1"/>
          </p:nvPr>
        </p:nvSpPr>
        <p:spPr>
          <a:xfrm>
            <a:off x="685800" y="2194560"/>
            <a:ext cx="10820400" cy="4452983"/>
          </a:xfrm>
        </p:spPr>
        <p:txBody>
          <a:bodyPr>
            <a:normAutofit fontScale="85000" lnSpcReduction="20000"/>
          </a:bodyPr>
          <a:lstStyle/>
          <a:p>
            <a:pPr marL="0" lvl="0" indent="0" algn="ctr">
              <a:buNone/>
              <a:tabLst>
                <a:tab pos="457200" algn="l"/>
              </a:tabLst>
            </a:pPr>
            <a:r>
              <a:rPr lang="en-IN" sz="2900" b="1" u="sng" dirty="0">
                <a:solidFill>
                  <a:schemeClr val="accent2"/>
                </a:solidFill>
              </a:rPr>
              <a:t>Key Metrics</a:t>
            </a:r>
          </a:p>
          <a:p>
            <a:pPr lvl="0">
              <a:tabLst>
                <a:tab pos="457200" algn="l"/>
              </a:tabLst>
            </a:pPr>
            <a:r>
              <a:rPr lang="en-IN" b="1" dirty="0">
                <a:solidFill>
                  <a:schemeClr val="accent2"/>
                </a:solidFill>
              </a:rPr>
              <a:t>Count:</a:t>
            </a:r>
          </a:p>
          <a:p>
            <a:pPr marL="285750" lvl="1" indent="-285750">
              <a:lnSpc>
                <a:spcPct val="115000"/>
              </a:lnSpc>
              <a:buSzPct val="100000"/>
              <a:buFont typeface="Wingdings" panose="05000000000000000000" pitchFamily="2" charset="2"/>
              <a:buChar char="v"/>
              <a:tabLst>
                <a:tab pos="914400" algn="l"/>
              </a:tabLst>
            </a:pPr>
            <a:r>
              <a:rPr lang="en-GB" b="1" dirty="0">
                <a:solidFill>
                  <a:schemeClr val="accent2"/>
                </a:solidFill>
              </a:rPr>
              <a:t>Total number of tickets handled by the agent.</a:t>
            </a:r>
            <a:endParaRPr lang="en-IN" b="1" dirty="0">
              <a:solidFill>
                <a:schemeClr val="accent2"/>
              </a:solidFill>
            </a:endParaRPr>
          </a:p>
          <a:p>
            <a:pPr marL="285750" lvl="1" indent="-285750">
              <a:lnSpc>
                <a:spcPct val="115000"/>
              </a:lnSpc>
              <a:buSzPct val="100000"/>
              <a:buFont typeface="Wingdings" panose="05000000000000000000" pitchFamily="2" charset="2"/>
              <a:buChar char="v"/>
              <a:tabLst>
                <a:tab pos="914400" algn="l"/>
              </a:tabLst>
            </a:pPr>
            <a:r>
              <a:rPr lang="en-GB" b="1" dirty="0">
                <a:solidFill>
                  <a:schemeClr val="accent2"/>
                </a:solidFill>
              </a:rPr>
              <a:t>Higher ticket counts could indicate high productivity. Consider whether the agent is meeting the workload expectation.</a:t>
            </a:r>
          </a:p>
          <a:p>
            <a:pPr marL="0" lvl="1">
              <a:lnSpc>
                <a:spcPct val="115000"/>
              </a:lnSpc>
              <a:spcAft>
                <a:spcPts val="0"/>
              </a:spcAft>
              <a:buSzPts val="1000"/>
              <a:tabLst>
                <a:tab pos="914400" algn="l"/>
              </a:tabLst>
            </a:pPr>
            <a:endParaRPr lang="en-IN" b="1" dirty="0">
              <a:solidFill>
                <a:schemeClr val="accent2"/>
              </a:solidFill>
            </a:endParaRPr>
          </a:p>
          <a:p>
            <a:pPr lvl="0">
              <a:tabLst>
                <a:tab pos="457200" algn="l"/>
              </a:tabLst>
            </a:pPr>
            <a:r>
              <a:rPr lang="en-IN" b="1" dirty="0">
                <a:solidFill>
                  <a:schemeClr val="accent2"/>
                </a:solidFill>
              </a:rPr>
              <a:t>Resolution Time:</a:t>
            </a:r>
          </a:p>
          <a:p>
            <a:pPr marL="285750" lvl="1" indent="-285750">
              <a:lnSpc>
                <a:spcPct val="115000"/>
              </a:lnSpc>
              <a:spcAft>
                <a:spcPts val="0"/>
              </a:spcAft>
              <a:buSzPct val="100000"/>
              <a:buFont typeface="Wingdings" panose="05000000000000000000" pitchFamily="2" charset="2"/>
              <a:buChar char="v"/>
              <a:tabLst>
                <a:tab pos="914400" algn="l"/>
              </a:tabLst>
            </a:pPr>
            <a:r>
              <a:rPr lang="en-GB" b="1" dirty="0">
                <a:solidFill>
                  <a:schemeClr val="accent2"/>
                </a:solidFill>
              </a:rPr>
              <a:t>Average and median resolution times should ideally align with organizational benchmarks.</a:t>
            </a:r>
            <a:endParaRPr lang="en-IN" b="1" dirty="0">
              <a:solidFill>
                <a:schemeClr val="accent2"/>
              </a:solidFill>
            </a:endParaRPr>
          </a:p>
          <a:p>
            <a:pPr marL="285750" lvl="1" indent="-285750">
              <a:lnSpc>
                <a:spcPct val="115000"/>
              </a:lnSpc>
              <a:spcAft>
                <a:spcPts val="0"/>
              </a:spcAft>
              <a:buSzPct val="100000"/>
              <a:buFont typeface="Wingdings" panose="05000000000000000000" pitchFamily="2" charset="2"/>
              <a:buChar char="v"/>
              <a:tabLst>
                <a:tab pos="914400" algn="l"/>
              </a:tabLst>
            </a:pPr>
            <a:r>
              <a:rPr lang="en-GB" b="1" dirty="0">
                <a:solidFill>
                  <a:schemeClr val="accent2"/>
                </a:solidFill>
              </a:rPr>
              <a:t>A high maximum resolution time could indicate inefficiency in handling certain cases.</a:t>
            </a:r>
          </a:p>
          <a:p>
            <a:pPr marL="0" lvl="1">
              <a:lnSpc>
                <a:spcPct val="115000"/>
              </a:lnSpc>
              <a:spcAft>
                <a:spcPts val="0"/>
              </a:spcAft>
              <a:buSzPts val="1000"/>
              <a:tabLst>
                <a:tab pos="914400" algn="l"/>
              </a:tabLst>
            </a:pPr>
            <a:endParaRPr lang="en-IN" b="1" dirty="0">
              <a:solidFill>
                <a:schemeClr val="accent2"/>
              </a:solidFill>
            </a:endParaRPr>
          </a:p>
          <a:p>
            <a:pPr lvl="0">
              <a:tabLst>
                <a:tab pos="457200" algn="l"/>
              </a:tabLst>
            </a:pPr>
            <a:r>
              <a:rPr lang="en-IN" b="1" dirty="0">
                <a:solidFill>
                  <a:schemeClr val="accent2"/>
                </a:solidFill>
              </a:rPr>
              <a:t>Satisfaction Rate:</a:t>
            </a:r>
          </a:p>
          <a:p>
            <a:pPr marL="285750" lvl="1" indent="-285750">
              <a:lnSpc>
                <a:spcPct val="115000"/>
              </a:lnSpc>
              <a:buSzPct val="100000"/>
              <a:buFont typeface="Wingdings" panose="05000000000000000000" pitchFamily="2" charset="2"/>
              <a:buChar char="v"/>
              <a:tabLst>
                <a:tab pos="914400" algn="l"/>
              </a:tabLst>
            </a:pPr>
            <a:r>
              <a:rPr lang="en-GB" b="1" dirty="0">
                <a:solidFill>
                  <a:schemeClr val="accent2"/>
                </a:solidFill>
              </a:rPr>
              <a:t>Customer satisfaction rate is a critical metric.</a:t>
            </a:r>
          </a:p>
          <a:p>
            <a:pPr marL="285750" lvl="1" indent="-285750">
              <a:lnSpc>
                <a:spcPct val="115000"/>
              </a:lnSpc>
              <a:spcAft>
                <a:spcPts val="0"/>
              </a:spcAft>
              <a:buSzPts val="1000"/>
              <a:buFont typeface="Wingdings" panose="05000000000000000000" pitchFamily="2" charset="2"/>
              <a:buChar char="v"/>
              <a:tabLst>
                <a:tab pos="914400" algn="l"/>
              </a:tabLst>
            </a:pPr>
            <a:endParaRPr lang="en-IN" b="1" dirty="0">
              <a:solidFill>
                <a:schemeClr val="accent2"/>
              </a:solidFill>
            </a:endParaRPr>
          </a:p>
          <a:p>
            <a:pPr marL="285750" indent="-285750">
              <a:buFont typeface="Wingdings" panose="05000000000000000000" pitchFamily="2" charset="2"/>
              <a:buChar char="ü"/>
            </a:pPr>
            <a:r>
              <a:rPr lang="en-GB" b="1" dirty="0">
                <a:solidFill>
                  <a:schemeClr val="accent2"/>
                </a:solidFill>
              </a:rPr>
              <a:t>A satisfaction rate below a defined threshold (e.g., 3.5 out of 5) may be unacceptable.</a:t>
            </a:r>
          </a:p>
          <a:p>
            <a:pPr marL="0" indent="0">
              <a:buNone/>
            </a:pPr>
            <a:endParaRPr lang="en-IN" dirty="0"/>
          </a:p>
        </p:txBody>
      </p:sp>
    </p:spTree>
    <p:extLst>
      <p:ext uri="{BB962C8B-B14F-4D97-AF65-F5344CB8AC3E}">
        <p14:creationId xmlns:p14="http://schemas.microsoft.com/office/powerpoint/2010/main" val="37157571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Conclusion on Key Metric (contd.)</a:t>
            </a:r>
            <a:endParaRPr lang="en-IN" b="1" dirty="0"/>
          </a:p>
        </p:txBody>
      </p:sp>
      <p:sp>
        <p:nvSpPr>
          <p:cNvPr id="3" name="Content Placeholder 2"/>
          <p:cNvSpPr>
            <a:spLocks noGrp="1"/>
          </p:cNvSpPr>
          <p:nvPr>
            <p:ph idx="1"/>
          </p:nvPr>
        </p:nvSpPr>
        <p:spPr>
          <a:xfrm>
            <a:off x="685800" y="2194560"/>
            <a:ext cx="10820400" cy="4423954"/>
          </a:xfrm>
        </p:spPr>
        <p:txBody>
          <a:bodyPr>
            <a:normAutofit fontScale="77500" lnSpcReduction="20000"/>
          </a:bodyPr>
          <a:lstStyle/>
          <a:p>
            <a:pPr marL="0" indent="0" algn="ctr">
              <a:buNone/>
            </a:pPr>
            <a:r>
              <a:rPr lang="en-GB" sz="2900" b="1" u="sng" dirty="0">
                <a:solidFill>
                  <a:schemeClr val="accent2"/>
                </a:solidFill>
              </a:rPr>
              <a:t>Decision</a:t>
            </a:r>
            <a:r>
              <a:rPr lang="en-GB" sz="2000" b="1" u="sng" dirty="0">
                <a:solidFill>
                  <a:schemeClr val="accent2"/>
                </a:solidFill>
              </a:rPr>
              <a:t> </a:t>
            </a:r>
            <a:r>
              <a:rPr lang="en-GB" sz="2900" b="1" u="sng" dirty="0">
                <a:solidFill>
                  <a:schemeClr val="accent2"/>
                </a:solidFill>
              </a:rPr>
              <a:t>Considerations</a:t>
            </a:r>
            <a:endParaRPr lang="en-IN" sz="2000" b="1" u="sng" dirty="0">
              <a:solidFill>
                <a:schemeClr val="accent2"/>
              </a:solidFill>
            </a:endParaRPr>
          </a:p>
          <a:p>
            <a:pPr marL="171450" indent="-171450" algn="ctr">
              <a:buFont typeface="Wingdings" panose="05000000000000000000" pitchFamily="2" charset="2"/>
              <a:buChar char="ü"/>
            </a:pPr>
            <a:endParaRPr lang="en-GB" sz="1100" dirty="0">
              <a:solidFill>
                <a:schemeClr val="accent2"/>
              </a:solidFill>
              <a:latin typeface="Arial" panose="020B0604020202020204" pitchFamily="34" charset="0"/>
            </a:endParaRPr>
          </a:p>
          <a:p>
            <a:pPr lvl="0"/>
            <a:r>
              <a:rPr lang="en-IN" b="1" dirty="0">
                <a:solidFill>
                  <a:schemeClr val="accent2"/>
                </a:solidFill>
              </a:rPr>
              <a:t>Focus on Trends</a:t>
            </a:r>
            <a:r>
              <a:rPr lang="en-IN" dirty="0">
                <a:solidFill>
                  <a:schemeClr val="accent2"/>
                </a:solidFill>
              </a:rPr>
              <a:t>:</a:t>
            </a:r>
          </a:p>
          <a:p>
            <a:pPr marL="628650" lvl="1" indent="-171450">
              <a:buFont typeface="Wingdings" panose="05000000000000000000" pitchFamily="2" charset="2"/>
              <a:buChar char="v"/>
            </a:pPr>
            <a:r>
              <a:rPr lang="en-GB" dirty="0">
                <a:solidFill>
                  <a:schemeClr val="accent2"/>
                </a:solidFill>
              </a:rPr>
              <a:t>If the agent's performance consistently skews towards the </a:t>
            </a:r>
            <a:r>
              <a:rPr lang="en-GB" b="1" dirty="0">
                <a:solidFill>
                  <a:schemeClr val="accent2"/>
                </a:solidFill>
              </a:rPr>
              <a:t>min or below average</a:t>
            </a:r>
            <a:r>
              <a:rPr lang="en-GB" dirty="0">
                <a:solidFill>
                  <a:schemeClr val="accent2"/>
                </a:solidFill>
              </a:rPr>
              <a:t> values for all metrics (e.g., low satisfaction, high resolution time), this may indicate a need for improvement or dismissal.</a:t>
            </a:r>
            <a:endParaRPr lang="en-IN" dirty="0">
              <a:solidFill>
                <a:schemeClr val="accent2"/>
              </a:solidFill>
            </a:endParaRPr>
          </a:p>
          <a:p>
            <a:pPr lvl="0"/>
            <a:r>
              <a:rPr lang="en-IN" b="1" dirty="0">
                <a:solidFill>
                  <a:schemeClr val="accent2"/>
                </a:solidFill>
              </a:rPr>
              <a:t>Satisfaction as a Priority</a:t>
            </a:r>
            <a:r>
              <a:rPr lang="en-IN" dirty="0">
                <a:solidFill>
                  <a:schemeClr val="accent2"/>
                </a:solidFill>
              </a:rPr>
              <a:t>:</a:t>
            </a:r>
          </a:p>
          <a:p>
            <a:pPr marL="628650" lvl="1" indent="-171450">
              <a:buFont typeface="Wingdings" panose="05000000000000000000" pitchFamily="2" charset="2"/>
              <a:buChar char="v"/>
            </a:pPr>
            <a:r>
              <a:rPr lang="en-GB" dirty="0">
                <a:solidFill>
                  <a:schemeClr val="accent2"/>
                </a:solidFill>
              </a:rPr>
              <a:t>Since </a:t>
            </a:r>
            <a:r>
              <a:rPr lang="en-GB" b="1" dirty="0">
                <a:solidFill>
                  <a:schemeClr val="accent2"/>
                </a:solidFill>
              </a:rPr>
              <a:t>customer satisfaction (median 4.2, min 3.0)</a:t>
            </a:r>
            <a:r>
              <a:rPr lang="en-GB" dirty="0">
                <a:solidFill>
                  <a:schemeClr val="accent2"/>
                </a:solidFill>
              </a:rPr>
              <a:t> is vital, consider firing the agent if their consistent satisfaction rate is closer to the </a:t>
            </a:r>
            <a:r>
              <a:rPr lang="en-GB" b="1" dirty="0">
                <a:solidFill>
                  <a:schemeClr val="accent2"/>
                </a:solidFill>
              </a:rPr>
              <a:t>minimum (3.0)</a:t>
            </a:r>
            <a:r>
              <a:rPr lang="en-GB" dirty="0">
                <a:solidFill>
                  <a:schemeClr val="accent2"/>
                </a:solidFill>
              </a:rPr>
              <a:t>.</a:t>
            </a:r>
          </a:p>
          <a:p>
            <a:pPr lvl="1"/>
            <a:endParaRPr lang="en-IN" dirty="0">
              <a:solidFill>
                <a:schemeClr val="accent2"/>
              </a:solidFill>
            </a:endParaRPr>
          </a:p>
          <a:p>
            <a:pPr lvl="0"/>
            <a:r>
              <a:rPr lang="en-IN" b="1" dirty="0">
                <a:solidFill>
                  <a:schemeClr val="accent2"/>
                </a:solidFill>
              </a:rPr>
              <a:t>Low Ticket Volume with Poor Metrics</a:t>
            </a:r>
            <a:r>
              <a:rPr lang="en-IN" dirty="0">
                <a:solidFill>
                  <a:schemeClr val="accent2"/>
                </a:solidFill>
              </a:rPr>
              <a:t>:</a:t>
            </a:r>
          </a:p>
          <a:p>
            <a:pPr marL="628650" lvl="1" indent="-171450">
              <a:buFont typeface="Wingdings" panose="05000000000000000000" pitchFamily="2" charset="2"/>
              <a:buChar char="v"/>
            </a:pPr>
            <a:r>
              <a:rPr lang="en-GB" dirty="0">
                <a:solidFill>
                  <a:schemeClr val="accent2"/>
                </a:solidFill>
              </a:rPr>
              <a:t>If the agent has a </a:t>
            </a:r>
            <a:r>
              <a:rPr lang="en-GB" b="1" dirty="0">
                <a:solidFill>
                  <a:schemeClr val="accent2"/>
                </a:solidFill>
              </a:rPr>
              <a:t>low count of tickets</a:t>
            </a:r>
            <a:r>
              <a:rPr lang="en-GB" dirty="0">
                <a:solidFill>
                  <a:schemeClr val="accent2"/>
                </a:solidFill>
              </a:rPr>
              <a:t> and still shows </a:t>
            </a:r>
            <a:r>
              <a:rPr lang="en-GB" b="1" dirty="0">
                <a:solidFill>
                  <a:schemeClr val="accent2"/>
                </a:solidFill>
              </a:rPr>
              <a:t>poor resolution time or satisfaction rates</a:t>
            </a:r>
            <a:r>
              <a:rPr lang="en-GB" dirty="0">
                <a:solidFill>
                  <a:schemeClr val="accent2"/>
                </a:solidFill>
              </a:rPr>
              <a:t>, this might justify dismissal.</a:t>
            </a:r>
            <a:endParaRPr lang="en-IN" dirty="0">
              <a:solidFill>
                <a:schemeClr val="accent2"/>
              </a:solidFill>
            </a:endParaRPr>
          </a:p>
          <a:p>
            <a:pPr marL="628650" lvl="1" indent="-171450">
              <a:buFont typeface="Wingdings" panose="05000000000000000000" pitchFamily="2" charset="2"/>
              <a:buChar char="v"/>
            </a:pPr>
            <a:r>
              <a:rPr lang="en-GB" dirty="0">
                <a:solidFill>
                  <a:schemeClr val="accent2"/>
                </a:solidFill>
              </a:rPr>
              <a:t>Compare with team averages to confirm underperformance.</a:t>
            </a:r>
            <a:endParaRPr lang="en-IN" dirty="0">
              <a:solidFill>
                <a:schemeClr val="accent2"/>
              </a:solidFill>
            </a:endParaRPr>
          </a:p>
          <a:p>
            <a:pPr lvl="0"/>
            <a:r>
              <a:rPr lang="en-IN" b="1" dirty="0">
                <a:solidFill>
                  <a:schemeClr val="accent2"/>
                </a:solidFill>
              </a:rPr>
              <a:t>Balanced Approach</a:t>
            </a:r>
            <a:r>
              <a:rPr lang="en-IN" dirty="0">
                <a:solidFill>
                  <a:schemeClr val="accent2"/>
                </a:solidFill>
              </a:rPr>
              <a:t>:</a:t>
            </a:r>
          </a:p>
          <a:p>
            <a:pPr marL="628650" lvl="1" indent="-171450">
              <a:buFont typeface="Wingdings" panose="05000000000000000000" pitchFamily="2" charset="2"/>
              <a:buChar char="ü"/>
            </a:pPr>
            <a:r>
              <a:rPr lang="en-GB" dirty="0">
                <a:solidFill>
                  <a:schemeClr val="accent2"/>
                </a:solidFill>
              </a:rPr>
              <a:t>Provide </a:t>
            </a:r>
            <a:r>
              <a:rPr lang="en-GB" b="1" dirty="0">
                <a:solidFill>
                  <a:schemeClr val="accent2"/>
                </a:solidFill>
              </a:rPr>
              <a:t>training or coaching</a:t>
            </a:r>
            <a:r>
              <a:rPr lang="en-GB" dirty="0">
                <a:solidFill>
                  <a:schemeClr val="accent2"/>
                </a:solidFill>
              </a:rPr>
              <a:t> opportunities for agents who are borderline performers, especially if metrics like </a:t>
            </a:r>
            <a:r>
              <a:rPr lang="en-GB" b="1" dirty="0">
                <a:solidFill>
                  <a:schemeClr val="accent2"/>
                </a:solidFill>
              </a:rPr>
              <a:t>median resolution time (4.6)</a:t>
            </a:r>
            <a:r>
              <a:rPr lang="en-GB" dirty="0">
                <a:solidFill>
                  <a:schemeClr val="accent2"/>
                </a:solidFill>
              </a:rPr>
              <a:t> and </a:t>
            </a:r>
            <a:r>
              <a:rPr lang="en-GB" b="1" dirty="0">
                <a:solidFill>
                  <a:schemeClr val="accent2"/>
                </a:solidFill>
              </a:rPr>
              <a:t>average satisfaction rate (4.1)</a:t>
            </a:r>
            <a:r>
              <a:rPr lang="en-GB" dirty="0">
                <a:solidFill>
                  <a:schemeClr val="accent2"/>
                </a:solidFill>
              </a:rPr>
              <a:t> aren't far off from expectations.</a:t>
            </a:r>
            <a:endParaRPr lang="en-IN" dirty="0">
              <a:solidFill>
                <a:schemeClr val="accent2"/>
              </a:solidFill>
            </a:endParaRPr>
          </a:p>
          <a:p>
            <a:pPr marL="0" indent="0">
              <a:buNone/>
            </a:pPr>
            <a:endParaRPr lang="en-GB" b="1" dirty="0">
              <a:solidFill>
                <a:schemeClr val="accent2"/>
              </a:solidFill>
            </a:endParaRPr>
          </a:p>
          <a:p>
            <a:pPr marL="0" indent="0">
              <a:buNone/>
            </a:pPr>
            <a:endParaRPr lang="en-IN" dirty="0"/>
          </a:p>
        </p:txBody>
      </p:sp>
    </p:spTree>
    <p:extLst>
      <p:ext uri="{BB962C8B-B14F-4D97-AF65-F5344CB8AC3E}">
        <p14:creationId xmlns:p14="http://schemas.microsoft.com/office/powerpoint/2010/main" val="23797225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Recommendations</a:t>
            </a:r>
            <a:endParaRPr lang="en-IN" b="1" dirty="0"/>
          </a:p>
        </p:txBody>
      </p:sp>
      <p:sp>
        <p:nvSpPr>
          <p:cNvPr id="3" name="Content Placeholder 2"/>
          <p:cNvSpPr>
            <a:spLocks noGrp="1"/>
          </p:cNvSpPr>
          <p:nvPr>
            <p:ph idx="1"/>
          </p:nvPr>
        </p:nvSpPr>
        <p:spPr>
          <a:xfrm>
            <a:off x="685800" y="2194560"/>
            <a:ext cx="10820400" cy="4452983"/>
          </a:xfrm>
        </p:spPr>
        <p:txBody>
          <a:bodyPr>
            <a:normAutofit fontScale="92500" lnSpcReduction="10000"/>
          </a:bodyPr>
          <a:lstStyle/>
          <a:p>
            <a:pPr lvl="0"/>
            <a:r>
              <a:rPr lang="en-IN" sz="2000" b="1" dirty="0">
                <a:solidFill>
                  <a:schemeClr val="accent2"/>
                </a:solidFill>
              </a:rPr>
              <a:t>Focus on Hardware and Systems:</a:t>
            </a:r>
            <a:endParaRPr lang="en-IN" sz="2000" dirty="0">
              <a:solidFill>
                <a:schemeClr val="accent2"/>
              </a:solidFill>
            </a:endParaRPr>
          </a:p>
          <a:p>
            <a:pPr marL="742950" lvl="1" indent="-285750">
              <a:buFont typeface="Wingdings" panose="05000000000000000000" pitchFamily="2" charset="2"/>
              <a:buChar char="v"/>
            </a:pPr>
            <a:r>
              <a:rPr lang="en-GB" dirty="0">
                <a:solidFill>
                  <a:schemeClr val="accent2"/>
                </a:solidFill>
              </a:rPr>
              <a:t>Hardware and system-related tickets take the longest to resolve and impact satisfaction significantly. Prioritize investment in modernizing these areas.</a:t>
            </a:r>
          </a:p>
          <a:p>
            <a:pPr lvl="1"/>
            <a:endParaRPr lang="en-IN" dirty="0">
              <a:solidFill>
                <a:schemeClr val="accent2"/>
              </a:solidFill>
            </a:endParaRPr>
          </a:p>
          <a:p>
            <a:pPr lvl="0"/>
            <a:r>
              <a:rPr lang="en-IN" sz="2000" b="1" dirty="0">
                <a:solidFill>
                  <a:schemeClr val="accent2"/>
                </a:solidFill>
              </a:rPr>
              <a:t>Leverage Automation:</a:t>
            </a:r>
            <a:endParaRPr lang="en-IN" sz="2000" dirty="0">
              <a:solidFill>
                <a:schemeClr val="accent2"/>
              </a:solidFill>
            </a:endParaRPr>
          </a:p>
          <a:p>
            <a:pPr marL="742950" lvl="1" indent="-285750">
              <a:buFont typeface="Wingdings" panose="05000000000000000000" pitchFamily="2" charset="2"/>
              <a:buChar char="v"/>
            </a:pPr>
            <a:r>
              <a:rPr lang="en-GB" dirty="0">
                <a:solidFill>
                  <a:schemeClr val="accent2"/>
                </a:solidFill>
              </a:rPr>
              <a:t>Introduce AI-driven tools for ticket classification, triage, and resolution suggestions to reduce manual workload and speed up response times.</a:t>
            </a:r>
          </a:p>
          <a:p>
            <a:pPr lvl="1"/>
            <a:endParaRPr lang="en-IN" dirty="0">
              <a:solidFill>
                <a:schemeClr val="accent2"/>
              </a:solidFill>
            </a:endParaRPr>
          </a:p>
          <a:p>
            <a:pPr lvl="0"/>
            <a:r>
              <a:rPr lang="en-IN" sz="2000" b="1" dirty="0">
                <a:solidFill>
                  <a:schemeClr val="accent2"/>
                </a:solidFill>
              </a:rPr>
              <a:t>Employee Training:</a:t>
            </a:r>
            <a:endParaRPr lang="en-IN" sz="2000" dirty="0">
              <a:solidFill>
                <a:schemeClr val="accent2"/>
              </a:solidFill>
            </a:endParaRPr>
          </a:p>
          <a:p>
            <a:pPr marL="742950" lvl="1" indent="-285750">
              <a:buFont typeface="Wingdings" panose="05000000000000000000" pitchFamily="2" charset="2"/>
              <a:buChar char="v"/>
            </a:pPr>
            <a:r>
              <a:rPr lang="en-GB" dirty="0">
                <a:solidFill>
                  <a:schemeClr val="accent2"/>
                </a:solidFill>
              </a:rPr>
              <a:t>Train employees to handle software and system tools more effectively to reduce errors that lead to tickets.</a:t>
            </a:r>
          </a:p>
          <a:p>
            <a:pPr lvl="1"/>
            <a:endParaRPr lang="en-IN" dirty="0">
              <a:solidFill>
                <a:schemeClr val="accent2"/>
              </a:solidFill>
            </a:endParaRPr>
          </a:p>
          <a:p>
            <a:pPr lvl="0"/>
            <a:r>
              <a:rPr lang="en-IN" sz="2000" b="1" dirty="0">
                <a:solidFill>
                  <a:schemeClr val="accent2"/>
                </a:solidFill>
              </a:rPr>
              <a:t>Proactive Monitoring and Maintenance:</a:t>
            </a:r>
            <a:endParaRPr lang="en-IN" sz="2000" dirty="0">
              <a:solidFill>
                <a:schemeClr val="accent2"/>
              </a:solidFill>
            </a:endParaRPr>
          </a:p>
          <a:p>
            <a:pPr marL="742950" lvl="1" indent="-285750">
              <a:buFont typeface="Wingdings" panose="05000000000000000000" pitchFamily="2" charset="2"/>
              <a:buChar char="v"/>
            </a:pPr>
            <a:r>
              <a:rPr lang="en-GB" dirty="0">
                <a:solidFill>
                  <a:schemeClr val="accent2"/>
                </a:solidFill>
              </a:rPr>
              <a:t>Invest in monitoring tools that pre-emptively detect and resolve hardware/system issues before employees report </a:t>
            </a:r>
            <a:r>
              <a:rPr lang="en-GB" dirty="0" smtClean="0">
                <a:solidFill>
                  <a:schemeClr val="accent2"/>
                </a:solidFill>
              </a:rPr>
              <a:t>them.</a:t>
            </a:r>
          </a:p>
        </p:txBody>
      </p:sp>
    </p:spTree>
    <p:extLst>
      <p:ext uri="{BB962C8B-B14F-4D97-AF65-F5344CB8AC3E}">
        <p14:creationId xmlns:p14="http://schemas.microsoft.com/office/powerpoint/2010/main" val="19725455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t>Recommendations (Contd.)</a:t>
            </a:r>
            <a:endParaRPr lang="en-IN" b="1" dirty="0"/>
          </a:p>
        </p:txBody>
      </p:sp>
      <p:sp>
        <p:nvSpPr>
          <p:cNvPr id="3" name="Content Placeholder 2"/>
          <p:cNvSpPr>
            <a:spLocks noGrp="1"/>
          </p:cNvSpPr>
          <p:nvPr>
            <p:ph idx="1"/>
          </p:nvPr>
        </p:nvSpPr>
        <p:spPr>
          <a:xfrm>
            <a:off x="685800" y="2194560"/>
            <a:ext cx="10820400" cy="4496526"/>
          </a:xfrm>
        </p:spPr>
        <p:txBody>
          <a:bodyPr>
            <a:normAutofit lnSpcReduction="10000"/>
          </a:bodyPr>
          <a:lstStyle/>
          <a:p>
            <a:pPr lvl="0"/>
            <a:r>
              <a:rPr lang="en-IN" b="1" dirty="0">
                <a:solidFill>
                  <a:schemeClr val="accent2"/>
                </a:solidFill>
              </a:rPr>
              <a:t>Feedback Mechanism:</a:t>
            </a:r>
          </a:p>
          <a:p>
            <a:pPr marL="742950" lvl="1" indent="-285750">
              <a:buFont typeface="Wingdings" panose="05000000000000000000" pitchFamily="2" charset="2"/>
              <a:buChar char="v"/>
            </a:pPr>
            <a:r>
              <a:rPr lang="en-GB" dirty="0">
                <a:solidFill>
                  <a:schemeClr val="accent2"/>
                </a:solidFill>
              </a:rPr>
              <a:t>Actively collect feedback from employees on new technology implementations to fine-tune investments and ensure alignment with their needs.</a:t>
            </a:r>
          </a:p>
          <a:p>
            <a:pPr marL="742950" lvl="1" indent="-285750">
              <a:buFont typeface="Wingdings" panose="05000000000000000000" pitchFamily="2" charset="2"/>
              <a:buChar char="v"/>
            </a:pPr>
            <a:endParaRPr lang="en-GB" dirty="0">
              <a:solidFill>
                <a:schemeClr val="accent2"/>
              </a:solidFill>
            </a:endParaRPr>
          </a:p>
          <a:p>
            <a:pPr lvl="0"/>
            <a:r>
              <a:rPr lang="en-IN" b="1" dirty="0">
                <a:solidFill>
                  <a:schemeClr val="accent2"/>
                </a:solidFill>
              </a:rPr>
              <a:t>Leverage Efficiency for Smaller Age Groups:</a:t>
            </a:r>
            <a:endParaRPr lang="en-IN" dirty="0">
              <a:solidFill>
                <a:schemeClr val="accent2"/>
              </a:solidFill>
            </a:endParaRPr>
          </a:p>
          <a:p>
            <a:pPr marL="742950" lvl="1" indent="-285750">
              <a:buFont typeface="Wingdings" panose="05000000000000000000" pitchFamily="2" charset="2"/>
              <a:buChar char="v"/>
            </a:pPr>
            <a:r>
              <a:rPr lang="en-GB" dirty="0">
                <a:solidFill>
                  <a:schemeClr val="accent2"/>
                </a:solidFill>
              </a:rPr>
              <a:t>The </a:t>
            </a:r>
            <a:r>
              <a:rPr lang="en-GB" b="1" dirty="0">
                <a:solidFill>
                  <a:schemeClr val="accent2"/>
                </a:solidFill>
              </a:rPr>
              <a:t>47–48</a:t>
            </a:r>
            <a:r>
              <a:rPr lang="en-GB" dirty="0">
                <a:solidFill>
                  <a:schemeClr val="accent2"/>
                </a:solidFill>
              </a:rPr>
              <a:t> and </a:t>
            </a:r>
            <a:r>
              <a:rPr lang="en-GB" b="1" dirty="0">
                <a:solidFill>
                  <a:schemeClr val="accent2"/>
                </a:solidFill>
              </a:rPr>
              <a:t>53–55</a:t>
            </a:r>
            <a:r>
              <a:rPr lang="en-GB" dirty="0">
                <a:solidFill>
                  <a:schemeClr val="accent2"/>
                </a:solidFill>
              </a:rPr>
              <a:t> age groups exhibit good satisfaction rates and quick resolution times. Analyse what works well for these groups (e.g., types of tickets, communication strategies) and replicate these practices for other demographics.</a:t>
            </a:r>
          </a:p>
          <a:p>
            <a:pPr marL="742950" lvl="1" indent="-285750">
              <a:buFont typeface="Wingdings" panose="05000000000000000000" pitchFamily="2" charset="2"/>
              <a:buChar char="v"/>
            </a:pPr>
            <a:endParaRPr lang="en-IN" b="1" dirty="0">
              <a:solidFill>
                <a:schemeClr val="accent2"/>
              </a:solidFill>
            </a:endParaRPr>
          </a:p>
          <a:p>
            <a:pPr lvl="0"/>
            <a:r>
              <a:rPr lang="en-IN" b="1" dirty="0">
                <a:solidFill>
                  <a:schemeClr val="accent2"/>
                </a:solidFill>
              </a:rPr>
              <a:t>Resource Allocation Based on Ticket Volume:</a:t>
            </a:r>
            <a:endParaRPr lang="en-IN" dirty="0">
              <a:solidFill>
                <a:schemeClr val="accent2"/>
              </a:solidFill>
            </a:endParaRPr>
          </a:p>
          <a:p>
            <a:pPr marL="742950" lvl="1" indent="-285750">
              <a:buFont typeface="Wingdings" panose="05000000000000000000" pitchFamily="2" charset="2"/>
              <a:buChar char="v"/>
            </a:pPr>
            <a:r>
              <a:rPr lang="en-GB" dirty="0">
                <a:solidFill>
                  <a:schemeClr val="accent2"/>
                </a:solidFill>
              </a:rPr>
              <a:t>Assign more support resources to the 41–44 age group or redistribute workloads to ensure quicker response and resolution times for high-ticket-volume age groups.</a:t>
            </a:r>
            <a:endParaRPr lang="en-IN" dirty="0">
              <a:solidFill>
                <a:schemeClr val="accent2"/>
              </a:solidFill>
            </a:endParaRPr>
          </a:p>
        </p:txBody>
      </p:sp>
    </p:spTree>
    <p:extLst>
      <p:ext uri="{BB962C8B-B14F-4D97-AF65-F5344CB8AC3E}">
        <p14:creationId xmlns:p14="http://schemas.microsoft.com/office/powerpoint/2010/main" val="364115047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694" y="1560130"/>
            <a:ext cx="10146186" cy="2511835"/>
          </a:xfrm>
        </p:spPr>
        <p:txBody>
          <a:bodyPr>
            <a:normAutofit/>
          </a:bodyPr>
          <a:lstStyle/>
          <a:p>
            <a:pPr algn="r"/>
            <a:r>
              <a:rPr lang="en-IN" sz="9600" b="1" dirty="0" smtClean="0"/>
              <a:t>Thank YOU</a:t>
            </a:r>
            <a:endParaRPr lang="en-IN" sz="9600" b="1" dirty="0"/>
          </a:p>
        </p:txBody>
      </p:sp>
    </p:spTree>
    <p:extLst>
      <p:ext uri="{BB962C8B-B14F-4D97-AF65-F5344CB8AC3E}">
        <p14:creationId xmlns:p14="http://schemas.microsoft.com/office/powerpoint/2010/main" val="515174046"/>
      </p:ext>
    </p:extLst>
  </p:cSld>
  <p:clrMapOvr>
    <a:masterClrMapping/>
  </p:clrMapOvr>
  <p:timing>
    <p:tnLst>
      <p:par>
        <p:cTn id="1" dur="indefinite" restart="never" nodeType="tmRoot"/>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Override1.xml><?xml version="1.0" encoding="utf-8"?>
<a:themeOverride xmlns:a="http://schemas.openxmlformats.org/drawingml/2006/main">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TM04033937[[fn=Vapor Trail]]</Template>
  <TotalTime>82</TotalTime>
  <Words>1819</Words>
  <Application>Microsoft Office PowerPoint</Application>
  <PresentationFormat>Widescreen</PresentationFormat>
  <Paragraphs>169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Arial Rounded MT Bold</vt:lpstr>
      <vt:lpstr>Century Gothic</vt:lpstr>
      <vt:lpstr>Wingdings</vt:lpstr>
      <vt:lpstr>Vapor Trail</vt:lpstr>
      <vt:lpstr>IT Ticket  Analysis Report</vt:lpstr>
      <vt:lpstr>Agenda</vt:lpstr>
      <vt:lpstr>“</vt:lpstr>
      <vt:lpstr>Problem Statement</vt:lpstr>
      <vt:lpstr>Data Overview</vt:lpstr>
      <vt:lpstr>Metric 1: “Ticket Count by Time (Year)”</vt:lpstr>
      <vt:lpstr>Metric 2: “Tickets by Request Category” </vt:lpstr>
      <vt:lpstr>Metric 3: “Ticket Count by Severity Rate”</vt:lpstr>
      <vt:lpstr>Metric 4: “Tickets by Priority”  </vt:lpstr>
      <vt:lpstr>Metric 5: “Distribution of tickets based on satisfaction”</vt:lpstr>
      <vt:lpstr> Metric 6: “Average Resolution Time by Request Category Quarterly”   </vt:lpstr>
      <vt:lpstr>Metric 7: “Satisfaction Rate By Time (Year)”</vt:lpstr>
      <vt:lpstr> Metric 8: “Satisfaction Rate By Age-groups”  </vt:lpstr>
      <vt:lpstr>Metric 9: “Distribution Of Tickets Based On Resolution Time”</vt:lpstr>
      <vt:lpstr>Dashboard</vt:lpstr>
      <vt:lpstr>Conclusion on Key Metric</vt:lpstr>
      <vt:lpstr>Conclusion on Key Metric (contd.)</vt:lpstr>
      <vt:lpstr>Recommendations</vt:lpstr>
      <vt:lpstr>Recommendations (Contd.)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Ticket  Analysis Report</dc:title>
  <dc:creator>AK</dc:creator>
  <cp:lastModifiedBy>AK</cp:lastModifiedBy>
  <cp:revision>12</cp:revision>
  <dcterms:created xsi:type="dcterms:W3CDTF">2026-02-04T21:56:38Z</dcterms:created>
  <dcterms:modified xsi:type="dcterms:W3CDTF">2026-02-05T17:37:31Z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378945</vt:lpwstr>
  </property>
  <property fmtid="{D5CDD505-2E9C-101B-9397-08002B2CF9AE}" name="NXPowerLiteSettings" pid="3">
    <vt:lpwstr>F7000400038000</vt:lpwstr>
  </property>
  <property fmtid="{D5CDD505-2E9C-101B-9397-08002B2CF9AE}" name="NXPowerLiteVersion" pid="4">
    <vt:lpwstr>S10.9.5</vt:lpwstr>
  </property>
</Properties>
</file>